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10287000" cx="18288000"/>
  <p:notesSz cx="6858000" cy="9144000"/>
  <p:embeddedFontLst>
    <p:embeddedFont>
      <p:font typeface="Anton"/>
      <p:regular r:id="rId20"/>
    </p:embeddedFont>
    <p:embeddedFont>
      <p:font typeface="Open Sans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5" roundtripDataSignature="AMtx7mgp0NvONesknEQHEDC44v6Y35rXY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nton-regular.fntdata"/><Relationship Id="rId22" Type="http://schemas.openxmlformats.org/officeDocument/2006/relationships/font" Target="fonts/OpenSans-bold.fntdata"/><Relationship Id="rId21" Type="http://schemas.openxmlformats.org/officeDocument/2006/relationships/font" Target="fonts/OpenSans-regular.fntdata"/><Relationship Id="rId24" Type="http://schemas.openxmlformats.org/officeDocument/2006/relationships/font" Target="fonts/OpenSans-boldItalic.fntdata"/><Relationship Id="rId23" Type="http://schemas.openxmlformats.org/officeDocument/2006/relationships/font" Target="fonts/OpenSans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9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9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0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0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1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1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1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1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3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3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3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4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4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5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6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6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7.jpg"/><Relationship Id="rId9" Type="http://schemas.openxmlformats.org/officeDocument/2006/relationships/image" Target="../media/image8.png"/><Relationship Id="rId5" Type="http://schemas.openxmlformats.org/officeDocument/2006/relationships/image" Target="../media/image2.jpg"/><Relationship Id="rId6" Type="http://schemas.openxmlformats.org/officeDocument/2006/relationships/image" Target="../media/image6.jpg"/><Relationship Id="rId7" Type="http://schemas.openxmlformats.org/officeDocument/2006/relationships/image" Target="../media/image4.png"/><Relationship Id="rId8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3.png"/><Relationship Id="rId4" Type="http://schemas.openxmlformats.org/officeDocument/2006/relationships/image" Target="../media/image16.png"/><Relationship Id="rId5" Type="http://schemas.openxmlformats.org/officeDocument/2006/relationships/image" Target="../media/image15.png"/><Relationship Id="rId6" Type="http://schemas.openxmlformats.org/officeDocument/2006/relationships/image" Target="../media/image1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image" Target="../media/image18.png"/><Relationship Id="rId6" Type="http://schemas.openxmlformats.org/officeDocument/2006/relationships/image" Target="../media/image25.png"/><Relationship Id="rId7" Type="http://schemas.openxmlformats.org/officeDocument/2006/relationships/image" Target="../media/image24.png"/><Relationship Id="rId8" Type="http://schemas.openxmlformats.org/officeDocument/2006/relationships/image" Target="../media/image2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7.png"/><Relationship Id="rId4" Type="http://schemas.openxmlformats.org/officeDocument/2006/relationships/image" Target="../media/image26.png"/><Relationship Id="rId5" Type="http://schemas.openxmlformats.org/officeDocument/2006/relationships/image" Target="../media/image28.png"/><Relationship Id="rId6" Type="http://schemas.openxmlformats.org/officeDocument/2006/relationships/image" Target="../media/image31.png"/><Relationship Id="rId7" Type="http://schemas.openxmlformats.org/officeDocument/2006/relationships/image" Target="../media/image29.png"/><Relationship Id="rId8" Type="http://schemas.openxmlformats.org/officeDocument/2006/relationships/image" Target="../media/image3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4497B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9144000" y="1863819"/>
            <a:ext cx="9526110" cy="9526110"/>
          </a:xfrm>
          <a:custGeom>
            <a:rect b="b" l="l" r="r" t="t"/>
            <a:pathLst>
              <a:path extrusionOk="0" h="9526110" w="9526110">
                <a:moveTo>
                  <a:pt x="0" y="0"/>
                </a:moveTo>
                <a:lnTo>
                  <a:pt x="9526110" y="0"/>
                </a:lnTo>
                <a:lnTo>
                  <a:pt x="9526110" y="9526111"/>
                </a:lnTo>
                <a:lnTo>
                  <a:pt x="0" y="95261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" name="Google Shape;85;p1"/>
          <p:cNvSpPr txBox="1"/>
          <p:nvPr/>
        </p:nvSpPr>
        <p:spPr>
          <a:xfrm>
            <a:off x="1028700" y="3076994"/>
            <a:ext cx="11786734" cy="1710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892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NOVAFIT ANALYTICS</a:t>
            </a:r>
            <a:endParaRPr/>
          </a:p>
        </p:txBody>
      </p:sp>
      <p:sp>
        <p:nvSpPr>
          <p:cNvPr id="86" name="Google Shape;86;p1"/>
          <p:cNvSpPr txBox="1"/>
          <p:nvPr/>
        </p:nvSpPr>
        <p:spPr>
          <a:xfrm>
            <a:off x="1028700" y="2234896"/>
            <a:ext cx="7144891" cy="2199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33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Duoc UC · Ingeniería en Informática · Sede Puente Alto · Portafolio de Título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1028700" y="5111747"/>
            <a:ext cx="7424324" cy="7035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6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ECOSISTEMA INTEGRAL DE GESTIÓN DEPORTIVA, ANALÍTICA PREVENTIVA Y AUTOMATIZACIÓN FINANCIERA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2"/>
          <p:cNvGrpSpPr/>
          <p:nvPr/>
        </p:nvGrpSpPr>
        <p:grpSpPr>
          <a:xfrm>
            <a:off x="-514350" y="9495035"/>
            <a:ext cx="22951717" cy="3194596"/>
            <a:chOff x="0" y="-28575"/>
            <a:chExt cx="6044897" cy="841375"/>
          </a:xfrm>
        </p:grpSpPr>
        <p:sp>
          <p:nvSpPr>
            <p:cNvPr id="93" name="Google Shape;93;p2"/>
            <p:cNvSpPr/>
            <p:nvPr/>
          </p:nvSpPr>
          <p:spPr>
            <a:xfrm>
              <a:off x="0" y="0"/>
              <a:ext cx="6044897" cy="812800"/>
            </a:xfrm>
            <a:custGeom>
              <a:rect b="b" l="l" r="r" t="t"/>
              <a:pathLst>
                <a:path extrusionOk="0" h="812800" w="6044897">
                  <a:moveTo>
                    <a:pt x="0" y="0"/>
                  </a:moveTo>
                  <a:lnTo>
                    <a:pt x="6044897" y="0"/>
                  </a:lnTo>
                  <a:lnTo>
                    <a:pt x="6044897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24497B"/>
            </a:solidFill>
            <a:ln>
              <a:noFill/>
            </a:ln>
          </p:spPr>
        </p:sp>
        <p:sp>
          <p:nvSpPr>
            <p:cNvPr id="94" name="Google Shape;94;p2"/>
            <p:cNvSpPr txBox="1"/>
            <p:nvPr/>
          </p:nvSpPr>
          <p:spPr>
            <a:xfrm>
              <a:off x="0" y="-28575"/>
              <a:ext cx="6044897" cy="8413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8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5" name="Google Shape;95;p2"/>
          <p:cNvSpPr/>
          <p:nvPr/>
        </p:nvSpPr>
        <p:spPr>
          <a:xfrm>
            <a:off x="12241345" y="229653"/>
            <a:ext cx="5754965" cy="4114800"/>
          </a:xfrm>
          <a:custGeom>
            <a:rect b="b" l="l" r="r" t="t"/>
            <a:pathLst>
              <a:path extrusionOk="0" h="4114800" w="5754965">
                <a:moveTo>
                  <a:pt x="0" y="0"/>
                </a:moveTo>
                <a:lnTo>
                  <a:pt x="5754965" y="0"/>
                </a:lnTo>
                <a:lnTo>
                  <a:pt x="575496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6" name="Google Shape;96;p2"/>
          <p:cNvSpPr/>
          <p:nvPr/>
        </p:nvSpPr>
        <p:spPr>
          <a:xfrm>
            <a:off x="804994" y="3106331"/>
            <a:ext cx="1588420" cy="1588420"/>
          </a:xfrm>
          <a:custGeom>
            <a:rect b="b" l="l" r="r" t="t"/>
            <a:pathLst>
              <a:path extrusionOk="0" h="812800" w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23783" l="0" r="0" t="-53992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2"/>
          <p:cNvSpPr/>
          <p:nvPr/>
        </p:nvSpPr>
        <p:spPr>
          <a:xfrm>
            <a:off x="804994" y="5143500"/>
            <a:ext cx="1588420" cy="1588420"/>
          </a:xfrm>
          <a:custGeom>
            <a:rect b="b" l="l" r="r" t="t"/>
            <a:pathLst>
              <a:path extrusionOk="0" h="812800" w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-78304" r="-78304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"/>
          <p:cNvSpPr/>
          <p:nvPr/>
        </p:nvSpPr>
        <p:spPr>
          <a:xfrm>
            <a:off x="804994" y="7180669"/>
            <a:ext cx="1588420" cy="1588420"/>
          </a:xfrm>
          <a:custGeom>
            <a:rect b="b" l="l" r="r" t="t"/>
            <a:pathLst>
              <a:path extrusionOk="0" h="812800" w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-16747" l="0" r="0" t="-16747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"/>
          <p:cNvSpPr/>
          <p:nvPr/>
        </p:nvSpPr>
        <p:spPr>
          <a:xfrm>
            <a:off x="8534553" y="7103860"/>
            <a:ext cx="1588420" cy="1588420"/>
          </a:xfrm>
          <a:custGeom>
            <a:rect b="b" l="l" r="r" t="t"/>
            <a:pathLst>
              <a:path extrusionOk="0" h="812800" w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-33333" l="0" r="0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"/>
          <p:cNvSpPr/>
          <p:nvPr/>
        </p:nvSpPr>
        <p:spPr>
          <a:xfrm>
            <a:off x="8534553" y="5143500"/>
            <a:ext cx="1588420" cy="1588420"/>
          </a:xfrm>
          <a:custGeom>
            <a:rect b="b" l="l" r="r" t="t"/>
            <a:pathLst>
              <a:path extrusionOk="0" h="812800" w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-264" l="0" r="0" t="-264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2"/>
          <p:cNvSpPr/>
          <p:nvPr/>
        </p:nvSpPr>
        <p:spPr>
          <a:xfrm>
            <a:off x="804994" y="5143500"/>
            <a:ext cx="1588420" cy="1588420"/>
          </a:xfrm>
          <a:custGeom>
            <a:rect b="b" l="l" r="r" t="t"/>
            <a:pathLst>
              <a:path extrusionOk="0" h="812800" w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-14745" l="0" r="0" t="-14745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2"/>
          <p:cNvSpPr txBox="1"/>
          <p:nvPr/>
        </p:nvSpPr>
        <p:spPr>
          <a:xfrm>
            <a:off x="3288550" y="391578"/>
            <a:ext cx="9613762" cy="2462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402" u="none" cap="none" strike="noStrike">
                <a:solidFill>
                  <a:srgbClr val="24497B"/>
                </a:solidFill>
                <a:latin typeface="Anton"/>
                <a:ea typeface="Anton"/>
                <a:cs typeface="Anton"/>
                <a:sym typeface="Anton"/>
              </a:rPr>
              <a:t>INTEGRANTES DEL PROYECTO</a:t>
            </a:r>
            <a:endParaRPr/>
          </a:p>
        </p:txBody>
      </p:sp>
      <p:sp>
        <p:nvSpPr>
          <p:cNvPr id="103" name="Google Shape;103;p2"/>
          <p:cNvSpPr txBox="1"/>
          <p:nvPr/>
        </p:nvSpPr>
        <p:spPr>
          <a:xfrm>
            <a:off x="2698649" y="3601774"/>
            <a:ext cx="7424324" cy="350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6" u="none" cap="none" strike="noStrike">
                <a:solidFill>
                  <a:srgbClr val="24497B"/>
                </a:solidFill>
                <a:latin typeface="Anton"/>
                <a:ea typeface="Anton"/>
                <a:cs typeface="Anton"/>
                <a:sym typeface="Anton"/>
              </a:rPr>
              <a:t>FELIPE ROMERO DÍAZ: PROJECT MANAGER Y LEAD ARCHITECT.</a:t>
            </a:r>
            <a:endParaRPr/>
          </a:p>
        </p:txBody>
      </p:sp>
      <p:sp>
        <p:nvSpPr>
          <p:cNvPr id="104" name="Google Shape;104;p2"/>
          <p:cNvSpPr txBox="1"/>
          <p:nvPr/>
        </p:nvSpPr>
        <p:spPr>
          <a:xfrm>
            <a:off x="2698649" y="5562134"/>
            <a:ext cx="7424324" cy="7035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6" u="none" cap="none" strike="noStrike">
                <a:solidFill>
                  <a:srgbClr val="24497B"/>
                </a:solidFill>
                <a:latin typeface="Anton"/>
                <a:ea typeface="Anton"/>
                <a:cs typeface="Anton"/>
                <a:sym typeface="Anton"/>
              </a:rPr>
              <a:t>VICENTE GILBERT: ANALISTA </a:t>
            </a:r>
            <a:endParaRPr/>
          </a:p>
          <a:p>
            <a:pPr indent="0" lvl="0" marL="0" marR="0" rtl="0" algn="l">
              <a:lnSpc>
                <a:spcPct val="1400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6" u="none" cap="none" strike="noStrike">
                <a:solidFill>
                  <a:srgbClr val="24497B"/>
                </a:solidFill>
                <a:latin typeface="Anton"/>
                <a:ea typeface="Anton"/>
                <a:cs typeface="Anton"/>
                <a:sym typeface="Anton"/>
              </a:rPr>
              <a:t>PROGRAMADOR.</a:t>
            </a:r>
            <a:endParaRPr/>
          </a:p>
        </p:txBody>
      </p:sp>
      <p:sp>
        <p:nvSpPr>
          <p:cNvPr id="105" name="Google Shape;105;p2"/>
          <p:cNvSpPr txBox="1"/>
          <p:nvPr/>
        </p:nvSpPr>
        <p:spPr>
          <a:xfrm>
            <a:off x="2698649" y="7522495"/>
            <a:ext cx="7424324" cy="7035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6" u="none" cap="none" strike="noStrike">
                <a:solidFill>
                  <a:srgbClr val="24497B"/>
                </a:solidFill>
                <a:latin typeface="Anton"/>
                <a:ea typeface="Anton"/>
                <a:cs typeface="Anton"/>
                <a:sym typeface="Anton"/>
              </a:rPr>
              <a:t>YULIAN SILVA: DESARROLLADOR DE </a:t>
            </a:r>
            <a:endParaRPr/>
          </a:p>
          <a:p>
            <a:pPr indent="0" lvl="0" marL="0" marR="0" rtl="0" algn="l">
              <a:lnSpc>
                <a:spcPct val="1400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6" u="none" cap="none" strike="noStrike">
                <a:solidFill>
                  <a:srgbClr val="24497B"/>
                </a:solidFill>
                <a:latin typeface="Anton"/>
                <a:ea typeface="Anton"/>
                <a:cs typeface="Anton"/>
                <a:sym typeface="Anton"/>
              </a:rPr>
              <a:t>BASE DE DATOS.</a:t>
            </a:r>
            <a:endParaRPr/>
          </a:p>
        </p:txBody>
      </p:sp>
      <p:sp>
        <p:nvSpPr>
          <p:cNvPr id="106" name="Google Shape;106;p2"/>
          <p:cNvSpPr txBox="1"/>
          <p:nvPr/>
        </p:nvSpPr>
        <p:spPr>
          <a:xfrm>
            <a:off x="10427773" y="5410902"/>
            <a:ext cx="7424324" cy="350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6" u="none" cap="none" strike="noStrike">
                <a:solidFill>
                  <a:srgbClr val="24497B"/>
                </a:solidFill>
                <a:latin typeface="Anton"/>
                <a:ea typeface="Anton"/>
                <a:cs typeface="Anton"/>
                <a:sym typeface="Anton"/>
              </a:rPr>
              <a:t>ANTONIO MATURANA: FRONTEND &amp; MOBILE DEVELOPER.</a:t>
            </a:r>
            <a:endParaRPr/>
          </a:p>
        </p:txBody>
      </p:sp>
      <p:sp>
        <p:nvSpPr>
          <p:cNvPr id="107" name="Google Shape;107;p2"/>
          <p:cNvSpPr txBox="1"/>
          <p:nvPr/>
        </p:nvSpPr>
        <p:spPr>
          <a:xfrm>
            <a:off x="10427773" y="7624791"/>
            <a:ext cx="7424324" cy="350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6" u="none" cap="none" strike="noStrike">
                <a:solidFill>
                  <a:srgbClr val="24497B"/>
                </a:solidFill>
                <a:latin typeface="Anton"/>
                <a:ea typeface="Anton"/>
                <a:cs typeface="Anton"/>
                <a:sym typeface="Anton"/>
              </a:rPr>
              <a:t>STEVEN SAN MARTÍN: ANALISTA QA Y DISEÑADOR UI/UX.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4497B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"/>
          <p:cNvSpPr/>
          <p:nvPr/>
        </p:nvSpPr>
        <p:spPr>
          <a:xfrm>
            <a:off x="12012930" y="1028700"/>
            <a:ext cx="5246370" cy="3921541"/>
          </a:xfrm>
          <a:custGeom>
            <a:rect b="b" l="l" r="r" t="t"/>
            <a:pathLst>
              <a:path extrusionOk="0" h="714286" w="955596">
                <a:moveTo>
                  <a:pt x="0" y="0"/>
                </a:moveTo>
                <a:lnTo>
                  <a:pt x="955596" y="0"/>
                </a:lnTo>
                <a:lnTo>
                  <a:pt x="955596" y="714286"/>
                </a:lnTo>
                <a:lnTo>
                  <a:pt x="0" y="714286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82" r="-82" t="0"/>
            </a:stretch>
          </a:blipFill>
          <a:ln>
            <a:noFill/>
          </a:ln>
        </p:spPr>
      </p:sp>
      <p:sp>
        <p:nvSpPr>
          <p:cNvPr id="113" name="Google Shape;113;p3"/>
          <p:cNvSpPr/>
          <p:nvPr/>
        </p:nvSpPr>
        <p:spPr>
          <a:xfrm>
            <a:off x="12012930" y="5336759"/>
            <a:ext cx="5246370" cy="3921541"/>
          </a:xfrm>
          <a:custGeom>
            <a:rect b="b" l="l" r="r" t="t"/>
            <a:pathLst>
              <a:path extrusionOk="0" h="714286" w="955596">
                <a:moveTo>
                  <a:pt x="0" y="0"/>
                </a:moveTo>
                <a:lnTo>
                  <a:pt x="955596" y="0"/>
                </a:lnTo>
                <a:lnTo>
                  <a:pt x="955596" y="714286"/>
                </a:lnTo>
                <a:lnTo>
                  <a:pt x="0" y="714286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82" r="-82" t="0"/>
            </a:stretch>
          </a:blipFill>
          <a:ln>
            <a:noFill/>
          </a:ln>
        </p:spPr>
      </p:sp>
      <p:sp>
        <p:nvSpPr>
          <p:cNvPr id="114" name="Google Shape;114;p3"/>
          <p:cNvSpPr txBox="1"/>
          <p:nvPr/>
        </p:nvSpPr>
        <p:spPr>
          <a:xfrm>
            <a:off x="636276" y="927299"/>
            <a:ext cx="9613800" cy="8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807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PROBLEMÁTICA IDENTIFICADA</a:t>
            </a:r>
            <a:endParaRPr/>
          </a:p>
        </p:txBody>
      </p:sp>
      <p:sp>
        <p:nvSpPr>
          <p:cNvPr id="115" name="Google Shape;115;p3"/>
          <p:cNvSpPr txBox="1"/>
          <p:nvPr/>
        </p:nvSpPr>
        <p:spPr>
          <a:xfrm>
            <a:off x="636276" y="3304491"/>
            <a:ext cx="9613762" cy="52170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43305" lvl="1" marL="486611" marR="0" rtl="0" algn="l">
              <a:lnSpc>
                <a:spcPct val="14003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3"/>
              <a:buFont typeface="Arial"/>
              <a:buChar char="•"/>
            </a:pPr>
            <a:r>
              <a:rPr b="0" i="0" lang="en-US" sz="2253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Gestión manual: procesos y hojas de cálculo dificultan el control de la información.</a:t>
            </a:r>
            <a:endParaRPr/>
          </a:p>
          <a:p>
            <a:pPr indent="0" lvl="0" marL="0" marR="0" rtl="0" algn="l">
              <a:lnSpc>
                <a:spcPct val="1400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53" u="none" cap="none" strike="noStrike">
              <a:solidFill>
                <a:srgbClr val="FFFFFF"/>
              </a:solidFill>
              <a:latin typeface="Anton"/>
              <a:ea typeface="Anton"/>
              <a:cs typeface="Anton"/>
              <a:sym typeface="Anton"/>
            </a:endParaRPr>
          </a:p>
          <a:p>
            <a:pPr indent="-243305" lvl="1" marL="486611" marR="0" rtl="0" algn="l">
              <a:lnSpc>
                <a:spcPct val="14003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3"/>
              <a:buFont typeface="Arial"/>
              <a:buChar char="•"/>
            </a:pPr>
            <a:r>
              <a:rPr b="0" i="0" lang="en-US" sz="2253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 Bajo control del rendimiento: poca visibilidad sobre cargas, fatiga y progresión de los atletas.</a:t>
            </a:r>
            <a:endParaRPr/>
          </a:p>
          <a:p>
            <a:pPr indent="0" lvl="0" marL="0" marR="0" rtl="0" algn="l">
              <a:lnSpc>
                <a:spcPct val="1400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53" u="none" cap="none" strike="noStrike">
              <a:solidFill>
                <a:srgbClr val="FFFFFF"/>
              </a:solidFill>
              <a:latin typeface="Anton"/>
              <a:ea typeface="Anton"/>
              <a:cs typeface="Anton"/>
              <a:sym typeface="Anton"/>
            </a:endParaRPr>
          </a:p>
          <a:p>
            <a:pPr indent="-243305" lvl="1" marL="486611" marR="0" rtl="0" algn="l">
              <a:lnSpc>
                <a:spcPct val="14003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3"/>
              <a:buFont typeface="Arial"/>
              <a:buChar char="•"/>
            </a:pPr>
            <a:r>
              <a:rPr b="0" i="0" lang="en-US" sz="2253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 Riesgo de lesiones: falta de monitoreo en tiempo real del ACWR aumenta el riesgo de sobreentrenamiento.</a:t>
            </a:r>
            <a:endParaRPr/>
          </a:p>
          <a:p>
            <a:pPr indent="0" lvl="0" marL="0" marR="0" rtl="0" algn="l">
              <a:lnSpc>
                <a:spcPct val="1400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53" u="none" cap="none" strike="noStrike">
              <a:solidFill>
                <a:srgbClr val="FFFFFF"/>
              </a:solidFill>
              <a:latin typeface="Anton"/>
              <a:ea typeface="Anton"/>
              <a:cs typeface="Anton"/>
              <a:sym typeface="Anton"/>
            </a:endParaRPr>
          </a:p>
          <a:p>
            <a:pPr indent="-243305" lvl="1" marL="486611" marR="0" rtl="0" algn="l">
              <a:lnSpc>
                <a:spcPct val="14003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3"/>
              <a:buFont typeface="Arial"/>
              <a:buChar char="•"/>
            </a:pPr>
            <a:r>
              <a:rPr b="0" i="0" lang="en-US" sz="2253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 Ineficiencia financiera: cobros manuales generan morosidad, fugas de ingresos y mayor carga administrativa.</a:t>
            </a:r>
            <a:endParaRPr/>
          </a:p>
          <a:p>
            <a:pPr indent="0" lvl="0" marL="0" marR="0" rtl="0" algn="l">
              <a:lnSpc>
                <a:spcPct val="1400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53" u="none" cap="none" strike="noStrike">
              <a:solidFill>
                <a:srgbClr val="FFFFFF"/>
              </a:solidFill>
              <a:latin typeface="Anton"/>
              <a:ea typeface="Anton"/>
              <a:cs typeface="Anton"/>
              <a:sym typeface="Anton"/>
            </a:endParaRPr>
          </a:p>
          <a:p>
            <a:pPr indent="0" lvl="0" marL="0" marR="0" rtl="0" algn="l">
              <a:lnSpc>
                <a:spcPct val="15246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53" u="none" cap="none" strike="noStrike">
              <a:solidFill>
                <a:srgbClr val="FFFFFF"/>
              </a:solidFill>
              <a:latin typeface="Anton"/>
              <a:ea typeface="Anton"/>
              <a:cs typeface="Anton"/>
              <a:sym typeface="Anto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" name="Google Shape;120;p4"/>
          <p:cNvGrpSpPr/>
          <p:nvPr/>
        </p:nvGrpSpPr>
        <p:grpSpPr>
          <a:xfrm>
            <a:off x="9839871" y="1028700"/>
            <a:ext cx="1064272" cy="1064272"/>
            <a:chOff x="0" y="0"/>
            <a:chExt cx="812800" cy="812800"/>
          </a:xfrm>
        </p:grpSpPr>
        <p:sp>
          <p:nvSpPr>
            <p:cNvPr id="121" name="Google Shape;121;p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449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3" name="Google Shape;123;p4"/>
          <p:cNvGrpSpPr/>
          <p:nvPr/>
        </p:nvGrpSpPr>
        <p:grpSpPr>
          <a:xfrm>
            <a:off x="13641197" y="1028700"/>
            <a:ext cx="1064272" cy="1064272"/>
            <a:chOff x="0" y="0"/>
            <a:chExt cx="812800" cy="812800"/>
          </a:xfrm>
        </p:grpSpPr>
        <p:sp>
          <p:nvSpPr>
            <p:cNvPr id="124" name="Google Shape;124;p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449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6" name="Google Shape;126;p4"/>
          <p:cNvGrpSpPr/>
          <p:nvPr/>
        </p:nvGrpSpPr>
        <p:grpSpPr>
          <a:xfrm>
            <a:off x="9839871" y="5457769"/>
            <a:ext cx="1064272" cy="1064272"/>
            <a:chOff x="0" y="0"/>
            <a:chExt cx="812800" cy="812800"/>
          </a:xfrm>
        </p:grpSpPr>
        <p:sp>
          <p:nvSpPr>
            <p:cNvPr id="127" name="Google Shape;127;p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449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9" name="Google Shape;129;p4"/>
          <p:cNvGrpSpPr/>
          <p:nvPr/>
        </p:nvGrpSpPr>
        <p:grpSpPr>
          <a:xfrm>
            <a:off x="13641197" y="5457769"/>
            <a:ext cx="1064272" cy="1064272"/>
            <a:chOff x="0" y="0"/>
            <a:chExt cx="812800" cy="812800"/>
          </a:xfrm>
        </p:grpSpPr>
        <p:sp>
          <p:nvSpPr>
            <p:cNvPr id="130" name="Google Shape;130;p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449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2" name="Google Shape;132;p4"/>
          <p:cNvGrpSpPr/>
          <p:nvPr/>
        </p:nvGrpSpPr>
        <p:grpSpPr>
          <a:xfrm>
            <a:off x="-514350" y="9495035"/>
            <a:ext cx="22951717" cy="3194596"/>
            <a:chOff x="0" y="-28575"/>
            <a:chExt cx="6044897" cy="841375"/>
          </a:xfrm>
        </p:grpSpPr>
        <p:sp>
          <p:nvSpPr>
            <p:cNvPr id="133" name="Google Shape;133;p4"/>
            <p:cNvSpPr/>
            <p:nvPr/>
          </p:nvSpPr>
          <p:spPr>
            <a:xfrm>
              <a:off x="0" y="0"/>
              <a:ext cx="6044897" cy="812800"/>
            </a:xfrm>
            <a:custGeom>
              <a:rect b="b" l="l" r="r" t="t"/>
              <a:pathLst>
                <a:path extrusionOk="0" h="812800" w="6044897">
                  <a:moveTo>
                    <a:pt x="0" y="0"/>
                  </a:moveTo>
                  <a:lnTo>
                    <a:pt x="6044897" y="0"/>
                  </a:lnTo>
                  <a:lnTo>
                    <a:pt x="6044897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24497B"/>
            </a:solidFill>
            <a:ln>
              <a:noFill/>
            </a:ln>
          </p:spPr>
        </p:sp>
        <p:sp>
          <p:nvSpPr>
            <p:cNvPr id="134" name="Google Shape;134;p4"/>
            <p:cNvSpPr txBox="1"/>
            <p:nvPr/>
          </p:nvSpPr>
          <p:spPr>
            <a:xfrm>
              <a:off x="0" y="-28575"/>
              <a:ext cx="6044897" cy="8413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8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5" name="Google Shape;135;p4"/>
          <p:cNvSpPr/>
          <p:nvPr/>
        </p:nvSpPr>
        <p:spPr>
          <a:xfrm>
            <a:off x="10904143" y="1214430"/>
            <a:ext cx="1783878" cy="1013567"/>
          </a:xfrm>
          <a:custGeom>
            <a:rect b="b" l="l" r="r" t="t"/>
            <a:pathLst>
              <a:path extrusionOk="0" h="1013567" w="1783878">
                <a:moveTo>
                  <a:pt x="0" y="0"/>
                </a:moveTo>
                <a:lnTo>
                  <a:pt x="1783878" y="0"/>
                </a:lnTo>
                <a:lnTo>
                  <a:pt x="1783878" y="1013567"/>
                </a:lnTo>
                <a:lnTo>
                  <a:pt x="0" y="101356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6" name="Google Shape;136;p4"/>
          <p:cNvSpPr txBox="1"/>
          <p:nvPr/>
        </p:nvSpPr>
        <p:spPr>
          <a:xfrm>
            <a:off x="1028700" y="820252"/>
            <a:ext cx="6663544" cy="7945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386" u="none" cap="none" strike="noStrike">
                <a:solidFill>
                  <a:srgbClr val="24497B"/>
                </a:solidFill>
                <a:latin typeface="Anton"/>
                <a:ea typeface="Anton"/>
                <a:cs typeface="Anton"/>
                <a:sym typeface="Anton"/>
              </a:rPr>
              <a:t>PROPUESTA DE SOLUCIÓN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386" u="none" cap="none" strike="noStrike">
              <a:solidFill>
                <a:srgbClr val="24497B"/>
              </a:solidFill>
              <a:latin typeface="Anton"/>
              <a:ea typeface="Anton"/>
              <a:cs typeface="Anton"/>
              <a:sym typeface="Anto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386" u="none" cap="none" strike="noStrike">
              <a:solidFill>
                <a:srgbClr val="24497B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37" name="Google Shape;137;p4"/>
          <p:cNvSpPr txBox="1"/>
          <p:nvPr/>
        </p:nvSpPr>
        <p:spPr>
          <a:xfrm>
            <a:off x="1028700" y="6398694"/>
            <a:ext cx="6168300" cy="7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29" u="none" cap="none" strike="noStrike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Un ecosistema digital integrado para optimizar la gestión, el rendimiento y la sostenibilidad de los centros deportivos</a:t>
            </a:r>
            <a:endParaRPr/>
          </a:p>
        </p:txBody>
      </p:sp>
      <p:sp>
        <p:nvSpPr>
          <p:cNvPr id="138" name="Google Shape;138;p4"/>
          <p:cNvSpPr txBox="1"/>
          <p:nvPr/>
        </p:nvSpPr>
        <p:spPr>
          <a:xfrm>
            <a:off x="9958140" y="1300155"/>
            <a:ext cx="827735" cy="5273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52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01</a:t>
            </a:r>
            <a:endParaRPr/>
          </a:p>
        </p:txBody>
      </p:sp>
      <p:sp>
        <p:nvSpPr>
          <p:cNvPr id="139" name="Google Shape;139;p4"/>
          <p:cNvSpPr txBox="1"/>
          <p:nvPr/>
        </p:nvSpPr>
        <p:spPr>
          <a:xfrm>
            <a:off x="9839871" y="2318445"/>
            <a:ext cx="2869977" cy="654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27" u="none" cap="none" strike="noStrike">
                <a:solidFill>
                  <a:srgbClr val="24497B"/>
                </a:solidFill>
                <a:latin typeface="Anton"/>
                <a:ea typeface="Anton"/>
                <a:cs typeface="Anton"/>
                <a:sym typeface="Anton"/>
              </a:rPr>
              <a:t>Plataforma Cloud-Native</a:t>
            </a:r>
            <a:endParaRPr/>
          </a:p>
        </p:txBody>
      </p:sp>
      <p:sp>
        <p:nvSpPr>
          <p:cNvPr id="140" name="Google Shape;140;p4"/>
          <p:cNvSpPr txBox="1"/>
          <p:nvPr/>
        </p:nvSpPr>
        <p:spPr>
          <a:xfrm>
            <a:off x="9839871" y="3201741"/>
            <a:ext cx="2734391" cy="13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99" u="none" cap="none" strike="noStrike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solución integral y modular conectada mediante una API REST centralizada.</a:t>
            </a:r>
            <a:endParaRPr/>
          </a:p>
        </p:txBody>
      </p:sp>
      <p:sp>
        <p:nvSpPr>
          <p:cNvPr id="141" name="Google Shape;141;p4"/>
          <p:cNvSpPr txBox="1"/>
          <p:nvPr/>
        </p:nvSpPr>
        <p:spPr>
          <a:xfrm>
            <a:off x="13759466" y="1300155"/>
            <a:ext cx="827735" cy="5273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52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02</a:t>
            </a:r>
            <a:endParaRPr/>
          </a:p>
        </p:txBody>
      </p:sp>
      <p:sp>
        <p:nvSpPr>
          <p:cNvPr id="142" name="Google Shape;142;p4"/>
          <p:cNvSpPr txBox="1"/>
          <p:nvPr/>
        </p:nvSpPr>
        <p:spPr>
          <a:xfrm>
            <a:off x="13641197" y="2318445"/>
            <a:ext cx="3011817" cy="3356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27" u="none" cap="none" strike="noStrike">
                <a:solidFill>
                  <a:srgbClr val="24497B"/>
                </a:solidFill>
                <a:latin typeface="Anton"/>
                <a:ea typeface="Anton"/>
                <a:cs typeface="Anton"/>
                <a:sym typeface="Anton"/>
              </a:rPr>
              <a:t>Gestión multisede</a:t>
            </a:r>
            <a:endParaRPr/>
          </a:p>
        </p:txBody>
      </p:sp>
      <p:sp>
        <p:nvSpPr>
          <p:cNvPr id="143" name="Google Shape;143;p4"/>
          <p:cNvSpPr txBox="1"/>
          <p:nvPr/>
        </p:nvSpPr>
        <p:spPr>
          <a:xfrm>
            <a:off x="13641197" y="3201741"/>
            <a:ext cx="2734391" cy="1044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99" u="none" cap="none" strike="noStrike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plataforma web para administración, control financiero y operaciones.</a:t>
            </a:r>
            <a:endParaRPr/>
          </a:p>
        </p:txBody>
      </p:sp>
      <p:sp>
        <p:nvSpPr>
          <p:cNvPr id="144" name="Google Shape;144;p4"/>
          <p:cNvSpPr txBox="1"/>
          <p:nvPr/>
        </p:nvSpPr>
        <p:spPr>
          <a:xfrm>
            <a:off x="9958140" y="5729224"/>
            <a:ext cx="827735" cy="5273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52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03</a:t>
            </a:r>
            <a:endParaRPr/>
          </a:p>
        </p:txBody>
      </p:sp>
      <p:sp>
        <p:nvSpPr>
          <p:cNvPr id="145" name="Google Shape;145;p4"/>
          <p:cNvSpPr txBox="1"/>
          <p:nvPr/>
        </p:nvSpPr>
        <p:spPr>
          <a:xfrm>
            <a:off x="9839871" y="6747514"/>
            <a:ext cx="2869977" cy="3356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27" u="none" cap="none" strike="noStrike">
                <a:solidFill>
                  <a:srgbClr val="24497B"/>
                </a:solidFill>
                <a:latin typeface="Anton"/>
                <a:ea typeface="Anton"/>
                <a:cs typeface="Anton"/>
                <a:sym typeface="Anton"/>
              </a:rPr>
              <a:t>Gestión deportiva</a:t>
            </a:r>
            <a:endParaRPr/>
          </a:p>
        </p:txBody>
      </p:sp>
      <p:sp>
        <p:nvSpPr>
          <p:cNvPr id="146" name="Google Shape;146;p4"/>
          <p:cNvSpPr txBox="1"/>
          <p:nvPr/>
        </p:nvSpPr>
        <p:spPr>
          <a:xfrm>
            <a:off x="9839871" y="7630810"/>
            <a:ext cx="2734391" cy="1749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99" u="none" cap="none" strike="noStrike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portal para entrenadores y app móvil para atletas, con planificación, registro de cargas y monitoreo de métricas.</a:t>
            </a:r>
            <a:endParaRPr/>
          </a:p>
        </p:txBody>
      </p:sp>
      <p:sp>
        <p:nvSpPr>
          <p:cNvPr id="147" name="Google Shape;147;p4"/>
          <p:cNvSpPr txBox="1"/>
          <p:nvPr/>
        </p:nvSpPr>
        <p:spPr>
          <a:xfrm>
            <a:off x="13641197" y="6747514"/>
            <a:ext cx="2869977" cy="654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27" u="none" cap="none" strike="noStrike">
                <a:solidFill>
                  <a:srgbClr val="24497B"/>
                </a:solidFill>
                <a:latin typeface="Anton"/>
                <a:ea typeface="Anton"/>
                <a:cs typeface="Anton"/>
                <a:sym typeface="Anton"/>
              </a:rPr>
              <a:t>Automatización inteligente</a:t>
            </a:r>
            <a:endParaRPr/>
          </a:p>
        </p:txBody>
      </p:sp>
      <p:sp>
        <p:nvSpPr>
          <p:cNvPr id="148" name="Google Shape;148;p4"/>
          <p:cNvSpPr txBox="1"/>
          <p:nvPr/>
        </p:nvSpPr>
        <p:spPr>
          <a:xfrm>
            <a:off x="13641197" y="7630810"/>
            <a:ext cx="2734391" cy="1749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99" u="none" cap="none" strike="noStrike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motor predictivo ACWR para prevención de lesiones y Membership Guard para automatizar la cobranza.</a:t>
            </a:r>
            <a:endParaRPr/>
          </a:p>
        </p:txBody>
      </p:sp>
      <p:sp>
        <p:nvSpPr>
          <p:cNvPr id="149" name="Google Shape;149;p4"/>
          <p:cNvSpPr txBox="1"/>
          <p:nvPr/>
        </p:nvSpPr>
        <p:spPr>
          <a:xfrm>
            <a:off x="13759466" y="5769117"/>
            <a:ext cx="827735" cy="5273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52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04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4497B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5"/>
          <p:cNvSpPr/>
          <p:nvPr/>
        </p:nvSpPr>
        <p:spPr>
          <a:xfrm>
            <a:off x="12012930" y="1028700"/>
            <a:ext cx="5246370" cy="3921541"/>
          </a:xfrm>
          <a:custGeom>
            <a:rect b="b" l="l" r="r" t="t"/>
            <a:pathLst>
              <a:path extrusionOk="0" h="714286" w="955596">
                <a:moveTo>
                  <a:pt x="0" y="0"/>
                </a:moveTo>
                <a:lnTo>
                  <a:pt x="955596" y="0"/>
                </a:lnTo>
                <a:lnTo>
                  <a:pt x="955596" y="714286"/>
                </a:lnTo>
                <a:lnTo>
                  <a:pt x="0" y="714286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82" r="-82" t="0"/>
            </a:stretch>
          </a:blipFill>
          <a:ln>
            <a:noFill/>
          </a:ln>
        </p:spPr>
      </p:sp>
      <p:sp>
        <p:nvSpPr>
          <p:cNvPr id="155" name="Google Shape;155;p5"/>
          <p:cNvSpPr txBox="1"/>
          <p:nvPr/>
        </p:nvSpPr>
        <p:spPr>
          <a:xfrm>
            <a:off x="1028700" y="1143000"/>
            <a:ext cx="9613762" cy="1502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807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OBJETIVO GENERAL Y OBJETIVOS ESPECÍFICOS</a:t>
            </a:r>
            <a:endParaRPr/>
          </a:p>
        </p:txBody>
      </p:sp>
      <p:sp>
        <p:nvSpPr>
          <p:cNvPr id="156" name="Google Shape;156;p5"/>
          <p:cNvSpPr txBox="1"/>
          <p:nvPr/>
        </p:nvSpPr>
        <p:spPr>
          <a:xfrm>
            <a:off x="1028700" y="3144419"/>
            <a:ext cx="9613762" cy="12711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3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53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Implementar un ecosistema multiplataforma que automatice la gestión de membresías, optimice el rendimiento físico y centralice la gestión multisede de NovaFit en 18 semanas.</a:t>
            </a:r>
            <a:endParaRPr/>
          </a:p>
        </p:txBody>
      </p:sp>
      <p:sp>
        <p:nvSpPr>
          <p:cNvPr id="157" name="Google Shape;157;p5"/>
          <p:cNvSpPr/>
          <p:nvPr/>
        </p:nvSpPr>
        <p:spPr>
          <a:xfrm>
            <a:off x="12012930" y="5336759"/>
            <a:ext cx="5246370" cy="3921541"/>
          </a:xfrm>
          <a:custGeom>
            <a:rect b="b" l="l" r="r" t="t"/>
            <a:pathLst>
              <a:path extrusionOk="0" h="714286" w="955596">
                <a:moveTo>
                  <a:pt x="0" y="0"/>
                </a:moveTo>
                <a:lnTo>
                  <a:pt x="955596" y="0"/>
                </a:lnTo>
                <a:lnTo>
                  <a:pt x="955596" y="714286"/>
                </a:lnTo>
                <a:lnTo>
                  <a:pt x="0" y="714286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82" r="-82" t="0"/>
            </a:stretch>
          </a:blipFill>
          <a:ln>
            <a:noFill/>
          </a:ln>
        </p:spPr>
      </p:sp>
      <p:sp>
        <p:nvSpPr>
          <p:cNvPr id="158" name="Google Shape;158;p5"/>
          <p:cNvSpPr txBox="1"/>
          <p:nvPr/>
        </p:nvSpPr>
        <p:spPr>
          <a:xfrm>
            <a:off x="1028700" y="5229225"/>
            <a:ext cx="9613762" cy="645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807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OBJETIVOS ESPECÍFICOS</a:t>
            </a:r>
            <a:endParaRPr/>
          </a:p>
        </p:txBody>
      </p:sp>
      <p:sp>
        <p:nvSpPr>
          <p:cNvPr id="159" name="Google Shape;159;p5"/>
          <p:cNvSpPr txBox="1"/>
          <p:nvPr/>
        </p:nvSpPr>
        <p:spPr>
          <a:xfrm>
            <a:off x="1028700" y="6203596"/>
            <a:ext cx="9613800" cy="43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64895" lvl="1" marL="529789" marR="0" rtl="0" algn="l">
              <a:lnSpc>
                <a:spcPct val="14003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53"/>
              <a:buFont typeface="Arial"/>
              <a:buChar char="•"/>
            </a:pPr>
            <a:r>
              <a:rPr b="0" i="0" lang="en-US" sz="2453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Desarrollar una API REST segura y eficiente, utilizando FastAPI, PostgreSQL, RBAC y JWT.</a:t>
            </a:r>
            <a:endParaRPr/>
          </a:p>
          <a:p>
            <a:pPr indent="0" lvl="0" marL="914400" marR="0" rtl="0" algn="l">
              <a:lnSpc>
                <a:spcPct val="14003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64895" lvl="1" marL="529789" marR="0" rtl="0" algn="l">
              <a:lnSpc>
                <a:spcPct val="14003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53"/>
              <a:buFont typeface="Arial"/>
              <a:buChar char="•"/>
            </a:pPr>
            <a:r>
              <a:rPr b="0" i="0" lang="en-US" sz="2453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 Implementar un motor predictivo ACWR para monitorear cargas y generar alertas de riesgo de lesiones en tiempo real</a:t>
            </a:r>
            <a:endParaRPr/>
          </a:p>
          <a:p>
            <a:pPr indent="0" lvl="0" marL="0" marR="0" rtl="0" algn="l">
              <a:lnSpc>
                <a:spcPct val="14003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53" u="none" cap="none" strike="noStrike">
              <a:solidFill>
                <a:srgbClr val="FFFFFF"/>
              </a:solidFill>
              <a:latin typeface="Anton"/>
              <a:ea typeface="Anton"/>
              <a:cs typeface="Anton"/>
              <a:sym typeface="Anton"/>
            </a:endParaRPr>
          </a:p>
          <a:p>
            <a:pPr indent="-264895" lvl="1" marL="529789" marR="0" rtl="0" algn="l">
              <a:lnSpc>
                <a:spcPct val="14003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53"/>
              <a:buFont typeface="Arial"/>
              <a:buChar char="•"/>
            </a:pPr>
            <a:r>
              <a:rPr b="0" i="0" lang="en-US" sz="2453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 Automatizar la gestión de membresías mediante Membership Guard, detección de morosidad y pagos online con MercadoPago.</a:t>
            </a:r>
            <a:endParaRPr/>
          </a:p>
          <a:p>
            <a:pPr indent="0" lvl="0" marL="0" marR="0" rtl="0" algn="l">
              <a:lnSpc>
                <a:spcPct val="1286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53" u="none" cap="none" strike="noStrike">
              <a:solidFill>
                <a:srgbClr val="FFFFFF"/>
              </a:solidFill>
              <a:latin typeface="Anton"/>
              <a:ea typeface="Anton"/>
              <a:cs typeface="Anton"/>
              <a:sym typeface="Anto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4" name="Google Shape;164;p6"/>
          <p:cNvGrpSpPr/>
          <p:nvPr/>
        </p:nvGrpSpPr>
        <p:grpSpPr>
          <a:xfrm>
            <a:off x="-514350" y="9495035"/>
            <a:ext cx="22951717" cy="3194596"/>
            <a:chOff x="0" y="-28575"/>
            <a:chExt cx="6044897" cy="841375"/>
          </a:xfrm>
        </p:grpSpPr>
        <p:sp>
          <p:nvSpPr>
            <p:cNvPr id="165" name="Google Shape;165;p6"/>
            <p:cNvSpPr/>
            <p:nvPr/>
          </p:nvSpPr>
          <p:spPr>
            <a:xfrm>
              <a:off x="0" y="0"/>
              <a:ext cx="6044897" cy="812800"/>
            </a:xfrm>
            <a:custGeom>
              <a:rect b="b" l="l" r="r" t="t"/>
              <a:pathLst>
                <a:path extrusionOk="0" h="812800" w="6044897">
                  <a:moveTo>
                    <a:pt x="0" y="0"/>
                  </a:moveTo>
                  <a:lnTo>
                    <a:pt x="6044897" y="0"/>
                  </a:lnTo>
                  <a:lnTo>
                    <a:pt x="6044897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24497B"/>
            </a:solidFill>
            <a:ln>
              <a:noFill/>
            </a:ln>
          </p:spPr>
        </p:sp>
        <p:sp>
          <p:nvSpPr>
            <p:cNvPr id="166" name="Google Shape;166;p6"/>
            <p:cNvSpPr txBox="1"/>
            <p:nvPr/>
          </p:nvSpPr>
          <p:spPr>
            <a:xfrm>
              <a:off x="0" y="-28575"/>
              <a:ext cx="6044897" cy="8413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8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7" name="Google Shape;167;p6"/>
          <p:cNvSpPr txBox="1"/>
          <p:nvPr/>
        </p:nvSpPr>
        <p:spPr>
          <a:xfrm>
            <a:off x="2497586" y="1504312"/>
            <a:ext cx="13292828" cy="20497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949" u="none" cap="none" strike="noStrike">
                <a:solidFill>
                  <a:srgbClr val="24497B"/>
                </a:solidFill>
                <a:latin typeface="Anton"/>
                <a:ea typeface="Anton"/>
                <a:cs typeface="Anton"/>
                <a:sym typeface="Anton"/>
              </a:rPr>
              <a:t>LO QUE ENTRA — Y LO QUE CONSCIENTEMENTE QUEDA FUERA</a:t>
            </a:r>
            <a:endParaRPr/>
          </a:p>
        </p:txBody>
      </p:sp>
      <p:sp>
        <p:nvSpPr>
          <p:cNvPr id="168" name="Google Shape;168;p6"/>
          <p:cNvSpPr txBox="1"/>
          <p:nvPr/>
        </p:nvSpPr>
        <p:spPr>
          <a:xfrm>
            <a:off x="4028869" y="3728941"/>
            <a:ext cx="10230261" cy="264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66" u="none" cap="none" strike="noStrike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Alcance definido con claridad para garantizar entrega de valor en 18 semanas</a:t>
            </a:r>
            <a:endParaRPr/>
          </a:p>
        </p:txBody>
      </p:sp>
      <p:sp>
        <p:nvSpPr>
          <p:cNvPr id="169" name="Google Shape;169;p6"/>
          <p:cNvSpPr txBox="1"/>
          <p:nvPr/>
        </p:nvSpPr>
        <p:spPr>
          <a:xfrm>
            <a:off x="4944687" y="5075614"/>
            <a:ext cx="3459080" cy="4771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592" u="none" cap="none" strike="noStrike">
                <a:solidFill>
                  <a:srgbClr val="24497B"/>
                </a:solidFill>
                <a:latin typeface="Anton"/>
                <a:ea typeface="Anton"/>
                <a:cs typeface="Anton"/>
                <a:sym typeface="Anton"/>
              </a:rPr>
              <a:t>✓  INCLUYE</a:t>
            </a:r>
            <a:endParaRPr/>
          </a:p>
        </p:txBody>
      </p:sp>
      <p:sp>
        <p:nvSpPr>
          <p:cNvPr id="170" name="Google Shape;170;p6"/>
          <p:cNvSpPr txBox="1"/>
          <p:nvPr/>
        </p:nvSpPr>
        <p:spPr>
          <a:xfrm>
            <a:off x="4944687" y="5745048"/>
            <a:ext cx="3459080" cy="319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32" u="none" cap="none" strike="noStrike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✓ Seguridad y roles: autenticación JWT y accesos diferenciados.</a:t>
            </a:r>
            <a:endParaRPr/>
          </a:p>
          <a:p>
            <a:pPr indent="0" lvl="0" marL="0" marR="0" rtl="0" algn="ctr">
              <a:lnSpc>
                <a:spcPct val="1400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32" u="none" cap="none" strike="noStrike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✓ Gestión multisede: sucursales, personal y membresías.</a:t>
            </a:r>
            <a:endParaRPr/>
          </a:p>
          <a:p>
            <a:pPr indent="0" lvl="0" marL="0" marR="0" rtl="0" algn="ctr">
              <a:lnSpc>
                <a:spcPct val="1400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32" u="none" cap="none" strike="noStrike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✓ Cobranza automatizada: bloqueo por morosidad y reactivación mediante MercadoPago.</a:t>
            </a:r>
            <a:endParaRPr/>
          </a:p>
          <a:p>
            <a:pPr indent="0" lvl="0" marL="0" marR="0" rtl="0" algn="ctr">
              <a:lnSpc>
                <a:spcPct val="1400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32" u="none" cap="none" strike="noStrike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 ✓ Gestión deportiva: ejercicios, mesociclos y rutinas personalizadas.</a:t>
            </a:r>
            <a:endParaRPr/>
          </a:p>
          <a:p>
            <a:pPr indent="0" lvl="0" marL="0" marR="0" rtl="0" algn="ctr">
              <a:lnSpc>
                <a:spcPct val="1400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32" u="none" cap="none" strike="noStrike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✓ App del atleta: registro de cargas, Auto-Fill, cálculo ACWR y notificaciones.</a:t>
            </a:r>
            <a:endParaRPr/>
          </a:p>
          <a:p>
            <a:pPr indent="0" lvl="0" marL="0" marR="0" rtl="0" algn="ctr">
              <a:lnSpc>
                <a:spcPct val="1400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1" sz="1532" u="none" cap="none" strike="noStrike">
              <a:solidFill>
                <a:srgbClr val="000000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71" name="Google Shape;171;p6"/>
          <p:cNvSpPr txBox="1"/>
          <p:nvPr/>
        </p:nvSpPr>
        <p:spPr>
          <a:xfrm>
            <a:off x="9884233" y="5075614"/>
            <a:ext cx="3459080" cy="4771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592" u="none" cap="none" strike="noStrike">
                <a:solidFill>
                  <a:srgbClr val="24497B"/>
                </a:solidFill>
                <a:latin typeface="Anton"/>
                <a:ea typeface="Anton"/>
                <a:cs typeface="Anton"/>
                <a:sym typeface="Anton"/>
              </a:rPr>
              <a:t>✕  NO INCLUYE</a:t>
            </a:r>
            <a:endParaRPr/>
          </a:p>
        </p:txBody>
      </p:sp>
      <p:sp>
        <p:nvSpPr>
          <p:cNvPr id="172" name="Google Shape;172;p6"/>
          <p:cNvSpPr txBox="1"/>
          <p:nvPr/>
        </p:nvSpPr>
        <p:spPr>
          <a:xfrm>
            <a:off x="9884233" y="5745048"/>
            <a:ext cx="3459080" cy="23899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32" u="none" cap="none" strike="noStrike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✕ Sin integración con torniquetes o lectores biométricos.</a:t>
            </a:r>
            <a:endParaRPr/>
          </a:p>
          <a:p>
            <a:pPr indent="0" lvl="0" marL="0" marR="0" rtl="0" algn="ctr">
              <a:lnSpc>
                <a:spcPct val="1400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32" u="none" cap="none" strike="noStrike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✕ Sin conexión con wearables o sensores IoT.</a:t>
            </a:r>
            <a:endParaRPr/>
          </a:p>
          <a:p>
            <a:pPr indent="0" lvl="0" marL="0" marR="0" rtl="0" algn="ctr">
              <a:lnSpc>
                <a:spcPct val="1400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32" u="none" cap="none" strike="noStrike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✕ No reemplaza ERP contables o tributarios.</a:t>
            </a:r>
            <a:endParaRPr/>
          </a:p>
          <a:p>
            <a:pPr indent="0" lvl="0" marL="0" marR="0" rtl="0" algn="ctr">
              <a:lnSpc>
                <a:spcPct val="1400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32" u="none" cap="none" strike="noStrike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✕  No incluye e-commerce de productos.</a:t>
            </a:r>
            <a:endParaRPr/>
          </a:p>
          <a:p>
            <a:pPr indent="0" lvl="0" marL="0" marR="0" rtl="0" algn="ctr">
              <a:lnSpc>
                <a:spcPct val="1400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32" u="none" cap="none" strike="noStrike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 ✕ No contempla dietas ni planificación nutricional personalizada.</a:t>
            </a:r>
            <a:endParaRPr/>
          </a:p>
          <a:p>
            <a:pPr indent="0" lvl="0" marL="0" marR="0" rtl="0" algn="ctr">
              <a:lnSpc>
                <a:spcPct val="1400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1" sz="1532" u="none" cap="none" strike="noStrike">
              <a:solidFill>
                <a:srgbClr val="000000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cxnSp>
        <p:nvCxnSpPr>
          <p:cNvPr id="173" name="Google Shape;173;p6"/>
          <p:cNvCxnSpPr/>
          <p:nvPr/>
        </p:nvCxnSpPr>
        <p:spPr>
          <a:xfrm rot="10800000">
            <a:off x="9076097" y="4571903"/>
            <a:ext cx="0" cy="2403441"/>
          </a:xfrm>
          <a:prstGeom prst="straightConnector1">
            <a:avLst/>
          </a:prstGeom>
          <a:noFill/>
          <a:ln cap="flat" cmpd="sng" w="38100">
            <a:solidFill>
              <a:srgbClr val="24497B"/>
            </a:solidFill>
            <a:prstDash val="solid"/>
            <a:round/>
            <a:headEnd len="lg" w="lg" type="oval"/>
            <a:tailEnd len="lg" w="lg" type="oval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4497B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8" name="Google Shape;178;p7"/>
          <p:cNvGrpSpPr/>
          <p:nvPr/>
        </p:nvGrpSpPr>
        <p:grpSpPr>
          <a:xfrm>
            <a:off x="1028700" y="4636437"/>
            <a:ext cx="7607078" cy="1022015"/>
            <a:chOff x="0" y="-28575"/>
            <a:chExt cx="2326778" cy="312604"/>
          </a:xfrm>
        </p:grpSpPr>
        <p:sp>
          <p:nvSpPr>
            <p:cNvPr id="179" name="Google Shape;179;p7"/>
            <p:cNvSpPr/>
            <p:nvPr/>
          </p:nvSpPr>
          <p:spPr>
            <a:xfrm>
              <a:off x="0" y="0"/>
              <a:ext cx="2326778" cy="284029"/>
            </a:xfrm>
            <a:custGeom>
              <a:rect b="b" l="l" r="r" t="t"/>
              <a:pathLst>
                <a:path extrusionOk="0" h="284029" w="2326778">
                  <a:moveTo>
                    <a:pt x="51904" y="0"/>
                  </a:moveTo>
                  <a:lnTo>
                    <a:pt x="2274874" y="0"/>
                  </a:lnTo>
                  <a:cubicBezTo>
                    <a:pt x="2303540" y="0"/>
                    <a:pt x="2326778" y="23238"/>
                    <a:pt x="2326778" y="51904"/>
                  </a:cubicBezTo>
                  <a:lnTo>
                    <a:pt x="2326778" y="232125"/>
                  </a:lnTo>
                  <a:cubicBezTo>
                    <a:pt x="2326778" y="245891"/>
                    <a:pt x="2321310" y="259093"/>
                    <a:pt x="2311576" y="268826"/>
                  </a:cubicBezTo>
                  <a:cubicBezTo>
                    <a:pt x="2301842" y="278560"/>
                    <a:pt x="2288640" y="284029"/>
                    <a:pt x="2274874" y="284029"/>
                  </a:cubicBezTo>
                  <a:lnTo>
                    <a:pt x="51904" y="284029"/>
                  </a:lnTo>
                  <a:cubicBezTo>
                    <a:pt x="38138" y="284029"/>
                    <a:pt x="24936" y="278560"/>
                    <a:pt x="15202" y="268826"/>
                  </a:cubicBezTo>
                  <a:cubicBezTo>
                    <a:pt x="5468" y="259093"/>
                    <a:pt x="0" y="245891"/>
                    <a:pt x="0" y="232125"/>
                  </a:cubicBezTo>
                  <a:lnTo>
                    <a:pt x="0" y="51904"/>
                  </a:lnTo>
                  <a:cubicBezTo>
                    <a:pt x="0" y="38138"/>
                    <a:pt x="5468" y="24936"/>
                    <a:pt x="15202" y="15202"/>
                  </a:cubicBezTo>
                  <a:cubicBezTo>
                    <a:pt x="24936" y="5468"/>
                    <a:pt x="38138" y="0"/>
                    <a:pt x="5190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7"/>
            <p:cNvSpPr txBox="1"/>
            <p:nvPr/>
          </p:nvSpPr>
          <p:spPr>
            <a:xfrm>
              <a:off x="0" y="-28575"/>
              <a:ext cx="2326778" cy="3126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8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1" name="Google Shape;181;p7"/>
          <p:cNvGrpSpPr/>
          <p:nvPr/>
        </p:nvGrpSpPr>
        <p:grpSpPr>
          <a:xfrm>
            <a:off x="1097715" y="6031754"/>
            <a:ext cx="7607078" cy="1022015"/>
            <a:chOff x="0" y="-28575"/>
            <a:chExt cx="2326778" cy="312604"/>
          </a:xfrm>
        </p:grpSpPr>
        <p:sp>
          <p:nvSpPr>
            <p:cNvPr id="182" name="Google Shape;182;p7"/>
            <p:cNvSpPr/>
            <p:nvPr/>
          </p:nvSpPr>
          <p:spPr>
            <a:xfrm>
              <a:off x="0" y="0"/>
              <a:ext cx="2326778" cy="284029"/>
            </a:xfrm>
            <a:custGeom>
              <a:rect b="b" l="l" r="r" t="t"/>
              <a:pathLst>
                <a:path extrusionOk="0" h="284029" w="2326778">
                  <a:moveTo>
                    <a:pt x="51904" y="0"/>
                  </a:moveTo>
                  <a:lnTo>
                    <a:pt x="2274874" y="0"/>
                  </a:lnTo>
                  <a:cubicBezTo>
                    <a:pt x="2303540" y="0"/>
                    <a:pt x="2326778" y="23238"/>
                    <a:pt x="2326778" y="51904"/>
                  </a:cubicBezTo>
                  <a:lnTo>
                    <a:pt x="2326778" y="232125"/>
                  </a:lnTo>
                  <a:cubicBezTo>
                    <a:pt x="2326778" y="245891"/>
                    <a:pt x="2321310" y="259093"/>
                    <a:pt x="2311576" y="268826"/>
                  </a:cubicBezTo>
                  <a:cubicBezTo>
                    <a:pt x="2301842" y="278560"/>
                    <a:pt x="2288640" y="284029"/>
                    <a:pt x="2274874" y="284029"/>
                  </a:cubicBezTo>
                  <a:lnTo>
                    <a:pt x="51904" y="284029"/>
                  </a:lnTo>
                  <a:cubicBezTo>
                    <a:pt x="38138" y="284029"/>
                    <a:pt x="24936" y="278560"/>
                    <a:pt x="15202" y="268826"/>
                  </a:cubicBezTo>
                  <a:cubicBezTo>
                    <a:pt x="5468" y="259093"/>
                    <a:pt x="0" y="245891"/>
                    <a:pt x="0" y="232125"/>
                  </a:cubicBezTo>
                  <a:lnTo>
                    <a:pt x="0" y="51904"/>
                  </a:lnTo>
                  <a:cubicBezTo>
                    <a:pt x="0" y="38138"/>
                    <a:pt x="5468" y="24936"/>
                    <a:pt x="15202" y="15202"/>
                  </a:cubicBezTo>
                  <a:cubicBezTo>
                    <a:pt x="24936" y="5468"/>
                    <a:pt x="38138" y="0"/>
                    <a:pt x="5190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7"/>
            <p:cNvSpPr txBox="1"/>
            <p:nvPr/>
          </p:nvSpPr>
          <p:spPr>
            <a:xfrm>
              <a:off x="0" y="-28575"/>
              <a:ext cx="2326778" cy="3126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8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4" name="Google Shape;184;p7"/>
          <p:cNvGrpSpPr/>
          <p:nvPr/>
        </p:nvGrpSpPr>
        <p:grpSpPr>
          <a:xfrm>
            <a:off x="1097715" y="7427072"/>
            <a:ext cx="7607078" cy="1022015"/>
            <a:chOff x="0" y="-28575"/>
            <a:chExt cx="2326778" cy="312604"/>
          </a:xfrm>
        </p:grpSpPr>
        <p:sp>
          <p:nvSpPr>
            <p:cNvPr id="185" name="Google Shape;185;p7"/>
            <p:cNvSpPr/>
            <p:nvPr/>
          </p:nvSpPr>
          <p:spPr>
            <a:xfrm>
              <a:off x="0" y="0"/>
              <a:ext cx="2326778" cy="284029"/>
            </a:xfrm>
            <a:custGeom>
              <a:rect b="b" l="l" r="r" t="t"/>
              <a:pathLst>
                <a:path extrusionOk="0" h="284029" w="2326778">
                  <a:moveTo>
                    <a:pt x="51904" y="0"/>
                  </a:moveTo>
                  <a:lnTo>
                    <a:pt x="2274874" y="0"/>
                  </a:lnTo>
                  <a:cubicBezTo>
                    <a:pt x="2303540" y="0"/>
                    <a:pt x="2326778" y="23238"/>
                    <a:pt x="2326778" y="51904"/>
                  </a:cubicBezTo>
                  <a:lnTo>
                    <a:pt x="2326778" y="232125"/>
                  </a:lnTo>
                  <a:cubicBezTo>
                    <a:pt x="2326778" y="245891"/>
                    <a:pt x="2321310" y="259093"/>
                    <a:pt x="2311576" y="268826"/>
                  </a:cubicBezTo>
                  <a:cubicBezTo>
                    <a:pt x="2301842" y="278560"/>
                    <a:pt x="2288640" y="284029"/>
                    <a:pt x="2274874" y="284029"/>
                  </a:cubicBezTo>
                  <a:lnTo>
                    <a:pt x="51904" y="284029"/>
                  </a:lnTo>
                  <a:cubicBezTo>
                    <a:pt x="38138" y="284029"/>
                    <a:pt x="24936" y="278560"/>
                    <a:pt x="15202" y="268826"/>
                  </a:cubicBezTo>
                  <a:cubicBezTo>
                    <a:pt x="5468" y="259093"/>
                    <a:pt x="0" y="245891"/>
                    <a:pt x="0" y="232125"/>
                  </a:cubicBezTo>
                  <a:lnTo>
                    <a:pt x="0" y="51904"/>
                  </a:lnTo>
                  <a:cubicBezTo>
                    <a:pt x="0" y="38138"/>
                    <a:pt x="5468" y="24936"/>
                    <a:pt x="15202" y="15202"/>
                  </a:cubicBezTo>
                  <a:cubicBezTo>
                    <a:pt x="24936" y="5468"/>
                    <a:pt x="38138" y="0"/>
                    <a:pt x="5190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7"/>
            <p:cNvSpPr txBox="1"/>
            <p:nvPr/>
          </p:nvSpPr>
          <p:spPr>
            <a:xfrm>
              <a:off x="0" y="-28575"/>
              <a:ext cx="2326778" cy="3126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8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7" name="Google Shape;187;p7"/>
          <p:cNvSpPr/>
          <p:nvPr/>
        </p:nvSpPr>
        <p:spPr>
          <a:xfrm>
            <a:off x="1368264" y="4864778"/>
            <a:ext cx="461294" cy="595218"/>
          </a:xfrm>
          <a:custGeom>
            <a:rect b="b" l="l" r="r" t="t"/>
            <a:pathLst>
              <a:path extrusionOk="0" h="595218" w="461294">
                <a:moveTo>
                  <a:pt x="0" y="0"/>
                </a:moveTo>
                <a:lnTo>
                  <a:pt x="461294" y="0"/>
                </a:lnTo>
                <a:lnTo>
                  <a:pt x="461294" y="595217"/>
                </a:lnTo>
                <a:lnTo>
                  <a:pt x="0" y="5952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8" name="Google Shape;188;p7"/>
          <p:cNvSpPr/>
          <p:nvPr/>
        </p:nvSpPr>
        <p:spPr>
          <a:xfrm>
            <a:off x="1259576" y="6256924"/>
            <a:ext cx="678670" cy="665097"/>
          </a:xfrm>
          <a:custGeom>
            <a:rect b="b" l="l" r="r" t="t"/>
            <a:pathLst>
              <a:path extrusionOk="0" h="665097" w="678670">
                <a:moveTo>
                  <a:pt x="0" y="0"/>
                </a:moveTo>
                <a:lnTo>
                  <a:pt x="678670" y="0"/>
                </a:lnTo>
                <a:lnTo>
                  <a:pt x="678670" y="665097"/>
                </a:lnTo>
                <a:lnTo>
                  <a:pt x="0" y="6650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9" name="Google Shape;189;p7"/>
          <p:cNvSpPr/>
          <p:nvPr/>
        </p:nvSpPr>
        <p:spPr>
          <a:xfrm>
            <a:off x="1368264" y="7665993"/>
            <a:ext cx="500493" cy="680943"/>
          </a:xfrm>
          <a:custGeom>
            <a:rect b="b" l="l" r="r" t="t"/>
            <a:pathLst>
              <a:path extrusionOk="0" h="680943" w="500493">
                <a:moveTo>
                  <a:pt x="0" y="0"/>
                </a:moveTo>
                <a:lnTo>
                  <a:pt x="500493" y="0"/>
                </a:lnTo>
                <a:lnTo>
                  <a:pt x="500493" y="680942"/>
                </a:lnTo>
                <a:lnTo>
                  <a:pt x="0" y="6809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0" name="Google Shape;190;p7"/>
          <p:cNvSpPr/>
          <p:nvPr/>
        </p:nvSpPr>
        <p:spPr>
          <a:xfrm>
            <a:off x="9076268" y="1010320"/>
            <a:ext cx="9120513" cy="6846514"/>
          </a:xfrm>
          <a:custGeom>
            <a:rect b="b" l="l" r="r" t="t"/>
            <a:pathLst>
              <a:path extrusionOk="0" h="6846514" w="9120513">
                <a:moveTo>
                  <a:pt x="0" y="0"/>
                </a:moveTo>
                <a:lnTo>
                  <a:pt x="9120513" y="0"/>
                </a:lnTo>
                <a:lnTo>
                  <a:pt x="9120513" y="6846513"/>
                </a:lnTo>
                <a:lnTo>
                  <a:pt x="0" y="684651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1" name="Google Shape;191;p7"/>
          <p:cNvSpPr txBox="1"/>
          <p:nvPr/>
        </p:nvSpPr>
        <p:spPr>
          <a:xfrm>
            <a:off x="1028700" y="964352"/>
            <a:ext cx="9613762" cy="26169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14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USUARIOS DEL SISTEMA</a:t>
            </a:r>
            <a:endParaRPr/>
          </a:p>
        </p:txBody>
      </p:sp>
      <p:sp>
        <p:nvSpPr>
          <p:cNvPr id="192" name="Google Shape;192;p7"/>
          <p:cNvSpPr txBox="1"/>
          <p:nvPr/>
        </p:nvSpPr>
        <p:spPr>
          <a:xfrm>
            <a:off x="2242270" y="4802604"/>
            <a:ext cx="6002257" cy="5002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48" u="none" cap="none" strike="noStrike">
                <a:solidFill>
                  <a:srgbClr val="24497B"/>
                </a:solidFill>
                <a:latin typeface="Anton"/>
                <a:ea typeface="Anton"/>
                <a:cs typeface="Anton"/>
                <a:sym typeface="Anton"/>
              </a:rPr>
              <a:t> ADMINISTRADOR: GESTIONA LA OPERACIÓN MULTISEDE, PLANES, PERSONAL, FINANZAS Y REPORTES DE INGRESOS Y MOROSIDAD.</a:t>
            </a:r>
            <a:endParaRPr/>
          </a:p>
        </p:txBody>
      </p:sp>
      <p:sp>
        <p:nvSpPr>
          <p:cNvPr id="193" name="Google Shape;193;p7"/>
          <p:cNvSpPr txBox="1"/>
          <p:nvPr/>
        </p:nvSpPr>
        <p:spPr>
          <a:xfrm>
            <a:off x="2084374" y="6325047"/>
            <a:ext cx="6318048" cy="5002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48" u="none" cap="none" strike="noStrike">
                <a:solidFill>
                  <a:srgbClr val="24497B"/>
                </a:solidFill>
                <a:latin typeface="Anton"/>
                <a:ea typeface="Anton"/>
                <a:cs typeface="Anton"/>
                <a:sym typeface="Anton"/>
              </a:rPr>
              <a:t>ENTRENADOR: DISEÑA RUTINAS, ASIGNA MESOCICLOS Y SUPERVISA EL RENDIMIENTO Y RIESGO DE LESIONES DE LOS ATLETAS.</a:t>
            </a:r>
            <a:endParaRPr/>
          </a:p>
        </p:txBody>
      </p:sp>
      <p:sp>
        <p:nvSpPr>
          <p:cNvPr id="194" name="Google Shape;194;p7"/>
          <p:cNvSpPr txBox="1"/>
          <p:nvPr/>
        </p:nvSpPr>
        <p:spPr>
          <a:xfrm>
            <a:off x="2084374" y="7592408"/>
            <a:ext cx="6318048" cy="5002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48" u="none" cap="none" strike="noStrike">
                <a:solidFill>
                  <a:srgbClr val="24497B"/>
                </a:solidFill>
                <a:latin typeface="Anton"/>
                <a:ea typeface="Anton"/>
                <a:cs typeface="Anton"/>
                <a:sym typeface="Anton"/>
              </a:rPr>
              <a:t>ATLETA: REGISTRA SUS ENTRENAMIENTOS, CONSULTA SU PROGRESIÓN Y ACWR, Y GESTIONA EL PAGO O RENOVACIÓN DE SU MEMBRESÍA.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9" name="Google Shape;199;p8"/>
          <p:cNvGrpSpPr/>
          <p:nvPr/>
        </p:nvGrpSpPr>
        <p:grpSpPr>
          <a:xfrm>
            <a:off x="9839871" y="2390295"/>
            <a:ext cx="1064272" cy="1064272"/>
            <a:chOff x="0" y="0"/>
            <a:chExt cx="812800" cy="812800"/>
          </a:xfrm>
        </p:grpSpPr>
        <p:sp>
          <p:nvSpPr>
            <p:cNvPr id="200" name="Google Shape;200;p8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449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8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2" name="Google Shape;202;p8"/>
          <p:cNvGrpSpPr/>
          <p:nvPr/>
        </p:nvGrpSpPr>
        <p:grpSpPr>
          <a:xfrm>
            <a:off x="13641197" y="2390295"/>
            <a:ext cx="1064272" cy="1064272"/>
            <a:chOff x="0" y="0"/>
            <a:chExt cx="812800" cy="812800"/>
          </a:xfrm>
        </p:grpSpPr>
        <p:sp>
          <p:nvSpPr>
            <p:cNvPr id="203" name="Google Shape;203;p8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449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8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5" name="Google Shape;205;p8"/>
          <p:cNvGrpSpPr/>
          <p:nvPr/>
        </p:nvGrpSpPr>
        <p:grpSpPr>
          <a:xfrm>
            <a:off x="9839871" y="5841274"/>
            <a:ext cx="1064272" cy="1064272"/>
            <a:chOff x="0" y="0"/>
            <a:chExt cx="812800" cy="812800"/>
          </a:xfrm>
        </p:grpSpPr>
        <p:sp>
          <p:nvSpPr>
            <p:cNvPr id="206" name="Google Shape;206;p8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449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8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8" name="Google Shape;208;p8"/>
          <p:cNvGrpSpPr/>
          <p:nvPr/>
        </p:nvGrpSpPr>
        <p:grpSpPr>
          <a:xfrm>
            <a:off x="13641197" y="5841274"/>
            <a:ext cx="1064272" cy="1064272"/>
            <a:chOff x="0" y="0"/>
            <a:chExt cx="812800" cy="812800"/>
          </a:xfrm>
        </p:grpSpPr>
        <p:sp>
          <p:nvSpPr>
            <p:cNvPr id="209" name="Google Shape;209;p8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449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8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1" name="Google Shape;211;p8"/>
          <p:cNvGrpSpPr/>
          <p:nvPr/>
        </p:nvGrpSpPr>
        <p:grpSpPr>
          <a:xfrm>
            <a:off x="-514350" y="9495035"/>
            <a:ext cx="22951717" cy="3194596"/>
            <a:chOff x="0" y="-28575"/>
            <a:chExt cx="6044897" cy="841375"/>
          </a:xfrm>
        </p:grpSpPr>
        <p:sp>
          <p:nvSpPr>
            <p:cNvPr id="212" name="Google Shape;212;p8"/>
            <p:cNvSpPr/>
            <p:nvPr/>
          </p:nvSpPr>
          <p:spPr>
            <a:xfrm>
              <a:off x="0" y="0"/>
              <a:ext cx="6044897" cy="812800"/>
            </a:xfrm>
            <a:custGeom>
              <a:rect b="b" l="l" r="r" t="t"/>
              <a:pathLst>
                <a:path extrusionOk="0" h="812800" w="6044897">
                  <a:moveTo>
                    <a:pt x="0" y="0"/>
                  </a:moveTo>
                  <a:lnTo>
                    <a:pt x="6044897" y="0"/>
                  </a:lnTo>
                  <a:lnTo>
                    <a:pt x="6044897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24497B"/>
            </a:solidFill>
            <a:ln>
              <a:noFill/>
            </a:ln>
          </p:spPr>
        </p:sp>
        <p:sp>
          <p:nvSpPr>
            <p:cNvPr id="213" name="Google Shape;213;p8"/>
            <p:cNvSpPr txBox="1"/>
            <p:nvPr/>
          </p:nvSpPr>
          <p:spPr>
            <a:xfrm>
              <a:off x="0" y="-28575"/>
              <a:ext cx="6044897" cy="8413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8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4" name="Google Shape;214;p8"/>
          <p:cNvSpPr txBox="1"/>
          <p:nvPr/>
        </p:nvSpPr>
        <p:spPr>
          <a:xfrm>
            <a:off x="1028700" y="820252"/>
            <a:ext cx="6663544" cy="48018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386" u="none" cap="none" strike="noStrike">
                <a:solidFill>
                  <a:srgbClr val="24497B"/>
                </a:solidFill>
                <a:latin typeface="Anton"/>
                <a:ea typeface="Anton"/>
                <a:cs typeface="Anton"/>
                <a:sym typeface="Anton"/>
              </a:rPr>
              <a:t>REQUERIMIENTOS DEL SISTEMA</a:t>
            </a:r>
            <a:endParaRPr/>
          </a:p>
        </p:txBody>
      </p:sp>
      <p:sp>
        <p:nvSpPr>
          <p:cNvPr id="215" name="Google Shape;215;p8"/>
          <p:cNvSpPr txBox="1"/>
          <p:nvPr/>
        </p:nvSpPr>
        <p:spPr>
          <a:xfrm>
            <a:off x="934425" y="6441486"/>
            <a:ext cx="61683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29" u="none" cap="none" strike="noStrike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REQUERIMIENTOS FUNCIONALES</a:t>
            </a:r>
            <a:endParaRPr/>
          </a:p>
        </p:txBody>
      </p:sp>
      <p:sp>
        <p:nvSpPr>
          <p:cNvPr id="216" name="Google Shape;216;p8"/>
          <p:cNvSpPr txBox="1"/>
          <p:nvPr/>
        </p:nvSpPr>
        <p:spPr>
          <a:xfrm>
            <a:off x="9958140" y="2661750"/>
            <a:ext cx="827735" cy="5273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52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01</a:t>
            </a:r>
            <a:endParaRPr/>
          </a:p>
        </p:txBody>
      </p:sp>
      <p:sp>
        <p:nvSpPr>
          <p:cNvPr id="217" name="Google Shape;217;p8"/>
          <p:cNvSpPr txBox="1"/>
          <p:nvPr/>
        </p:nvSpPr>
        <p:spPr>
          <a:xfrm>
            <a:off x="9839871" y="3680040"/>
            <a:ext cx="2869977" cy="3356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27" u="none" cap="none" strike="noStrike">
                <a:solidFill>
                  <a:srgbClr val="24497B"/>
                </a:solidFill>
                <a:latin typeface="Anton"/>
                <a:ea typeface="Anton"/>
                <a:cs typeface="Anton"/>
                <a:sym typeface="Anton"/>
              </a:rPr>
              <a:t>Seguridad</a:t>
            </a:r>
            <a:endParaRPr/>
          </a:p>
        </p:txBody>
      </p:sp>
      <p:sp>
        <p:nvSpPr>
          <p:cNvPr id="218" name="Google Shape;218;p8"/>
          <p:cNvSpPr txBox="1"/>
          <p:nvPr/>
        </p:nvSpPr>
        <p:spPr>
          <a:xfrm>
            <a:off x="9299525" y="4236311"/>
            <a:ext cx="2734391" cy="692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99" u="none" cap="none" strike="noStrike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autenticación, roles (RBAC), JWT y auditoría.</a:t>
            </a:r>
            <a:endParaRPr/>
          </a:p>
        </p:txBody>
      </p:sp>
      <p:sp>
        <p:nvSpPr>
          <p:cNvPr id="219" name="Google Shape;219;p8"/>
          <p:cNvSpPr txBox="1"/>
          <p:nvPr/>
        </p:nvSpPr>
        <p:spPr>
          <a:xfrm>
            <a:off x="13759466" y="2661750"/>
            <a:ext cx="827735" cy="5273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52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02</a:t>
            </a:r>
            <a:endParaRPr/>
          </a:p>
        </p:txBody>
      </p:sp>
      <p:sp>
        <p:nvSpPr>
          <p:cNvPr id="220" name="Google Shape;220;p8"/>
          <p:cNvSpPr txBox="1"/>
          <p:nvPr/>
        </p:nvSpPr>
        <p:spPr>
          <a:xfrm>
            <a:off x="13641197" y="3680040"/>
            <a:ext cx="3011817" cy="654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27" u="none" cap="none" strike="noStrike">
                <a:solidFill>
                  <a:srgbClr val="24497B"/>
                </a:solidFill>
                <a:latin typeface="Anton"/>
                <a:ea typeface="Anton"/>
                <a:cs typeface="Anton"/>
                <a:sym typeface="Anton"/>
              </a:rPr>
              <a:t>Administración y Finanzas</a:t>
            </a:r>
            <a:endParaRPr/>
          </a:p>
        </p:txBody>
      </p:sp>
      <p:sp>
        <p:nvSpPr>
          <p:cNvPr id="221" name="Google Shape;221;p8"/>
          <p:cNvSpPr txBox="1"/>
          <p:nvPr/>
        </p:nvSpPr>
        <p:spPr>
          <a:xfrm>
            <a:off x="13643641" y="4387123"/>
            <a:ext cx="2734391" cy="1044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99" u="none" cap="none" strike="noStrike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planes, control de morosidad, pagos y reportes.</a:t>
            </a:r>
            <a:endParaRPr/>
          </a:p>
        </p:txBody>
      </p:sp>
      <p:sp>
        <p:nvSpPr>
          <p:cNvPr id="222" name="Google Shape;222;p8"/>
          <p:cNvSpPr txBox="1"/>
          <p:nvPr/>
        </p:nvSpPr>
        <p:spPr>
          <a:xfrm>
            <a:off x="9958140" y="6112729"/>
            <a:ext cx="827735" cy="5273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52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03</a:t>
            </a:r>
            <a:endParaRPr/>
          </a:p>
        </p:txBody>
      </p:sp>
      <p:sp>
        <p:nvSpPr>
          <p:cNvPr id="223" name="Google Shape;223;p8"/>
          <p:cNvSpPr txBox="1"/>
          <p:nvPr/>
        </p:nvSpPr>
        <p:spPr>
          <a:xfrm>
            <a:off x="9839871" y="7131018"/>
            <a:ext cx="2869977" cy="3356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27" u="none" cap="none" strike="noStrike">
                <a:solidFill>
                  <a:srgbClr val="24497B"/>
                </a:solidFill>
                <a:latin typeface="Anton"/>
                <a:ea typeface="Anton"/>
                <a:cs typeface="Anton"/>
                <a:sym typeface="Anton"/>
              </a:rPr>
              <a:t>Entrenamiento</a:t>
            </a:r>
            <a:endParaRPr/>
          </a:p>
        </p:txBody>
      </p:sp>
      <p:sp>
        <p:nvSpPr>
          <p:cNvPr id="224" name="Google Shape;224;p8"/>
          <p:cNvSpPr txBox="1"/>
          <p:nvPr/>
        </p:nvSpPr>
        <p:spPr>
          <a:xfrm>
            <a:off x="9839871" y="8014314"/>
            <a:ext cx="2734391" cy="1044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99" u="none" cap="none" strike="noStrike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catálogo de ejercicios, rutinas y planificación individual.</a:t>
            </a:r>
            <a:endParaRPr/>
          </a:p>
        </p:txBody>
      </p:sp>
      <p:sp>
        <p:nvSpPr>
          <p:cNvPr id="225" name="Google Shape;225;p8"/>
          <p:cNvSpPr txBox="1"/>
          <p:nvPr/>
        </p:nvSpPr>
        <p:spPr>
          <a:xfrm>
            <a:off x="13641197" y="7131018"/>
            <a:ext cx="2869977" cy="3356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27" u="none" cap="none" strike="noStrike">
                <a:solidFill>
                  <a:srgbClr val="24497B"/>
                </a:solidFill>
                <a:latin typeface="Anton"/>
                <a:ea typeface="Anton"/>
                <a:cs typeface="Anton"/>
                <a:sym typeface="Anton"/>
              </a:rPr>
              <a:t>Ejecución y Biometría</a:t>
            </a:r>
            <a:endParaRPr/>
          </a:p>
        </p:txBody>
      </p:sp>
      <p:sp>
        <p:nvSpPr>
          <p:cNvPr id="226" name="Google Shape;226;p8"/>
          <p:cNvSpPr txBox="1"/>
          <p:nvPr/>
        </p:nvSpPr>
        <p:spPr>
          <a:xfrm>
            <a:off x="13641197" y="8014314"/>
            <a:ext cx="2734391" cy="1044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99" u="none" cap="none" strike="noStrike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registro de cargas, cálculo ACWR, alertas y evolución física.</a:t>
            </a:r>
            <a:endParaRPr/>
          </a:p>
        </p:txBody>
      </p:sp>
      <p:sp>
        <p:nvSpPr>
          <p:cNvPr id="227" name="Google Shape;227;p8"/>
          <p:cNvSpPr txBox="1"/>
          <p:nvPr/>
        </p:nvSpPr>
        <p:spPr>
          <a:xfrm>
            <a:off x="13759466" y="6152621"/>
            <a:ext cx="827735" cy="5273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52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04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2" name="Google Shape;232;p9"/>
          <p:cNvGrpSpPr/>
          <p:nvPr/>
        </p:nvGrpSpPr>
        <p:grpSpPr>
          <a:xfrm>
            <a:off x="9839871" y="2390295"/>
            <a:ext cx="1064272" cy="1064272"/>
            <a:chOff x="0" y="0"/>
            <a:chExt cx="812800" cy="812800"/>
          </a:xfrm>
        </p:grpSpPr>
        <p:sp>
          <p:nvSpPr>
            <p:cNvPr id="233" name="Google Shape;233;p9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449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5" name="Google Shape;235;p9"/>
          <p:cNvGrpSpPr/>
          <p:nvPr/>
        </p:nvGrpSpPr>
        <p:grpSpPr>
          <a:xfrm>
            <a:off x="13641197" y="2390295"/>
            <a:ext cx="1064272" cy="1064272"/>
            <a:chOff x="0" y="0"/>
            <a:chExt cx="812800" cy="812800"/>
          </a:xfrm>
        </p:grpSpPr>
        <p:sp>
          <p:nvSpPr>
            <p:cNvPr id="236" name="Google Shape;236;p9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449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8" name="Google Shape;238;p9"/>
          <p:cNvGrpSpPr/>
          <p:nvPr/>
        </p:nvGrpSpPr>
        <p:grpSpPr>
          <a:xfrm>
            <a:off x="11717224" y="5996913"/>
            <a:ext cx="1064272" cy="1064272"/>
            <a:chOff x="0" y="0"/>
            <a:chExt cx="812800" cy="812800"/>
          </a:xfrm>
        </p:grpSpPr>
        <p:sp>
          <p:nvSpPr>
            <p:cNvPr id="239" name="Google Shape;239;p9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449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1" name="Google Shape;241;p9"/>
          <p:cNvGrpSpPr/>
          <p:nvPr/>
        </p:nvGrpSpPr>
        <p:grpSpPr>
          <a:xfrm>
            <a:off x="-514350" y="9495035"/>
            <a:ext cx="22951717" cy="3194596"/>
            <a:chOff x="0" y="-28575"/>
            <a:chExt cx="6044897" cy="841375"/>
          </a:xfrm>
        </p:grpSpPr>
        <p:sp>
          <p:nvSpPr>
            <p:cNvPr id="242" name="Google Shape;242;p9"/>
            <p:cNvSpPr/>
            <p:nvPr/>
          </p:nvSpPr>
          <p:spPr>
            <a:xfrm>
              <a:off x="0" y="0"/>
              <a:ext cx="6044897" cy="812800"/>
            </a:xfrm>
            <a:custGeom>
              <a:rect b="b" l="l" r="r" t="t"/>
              <a:pathLst>
                <a:path extrusionOk="0" h="812800" w="6044897">
                  <a:moveTo>
                    <a:pt x="0" y="0"/>
                  </a:moveTo>
                  <a:lnTo>
                    <a:pt x="6044897" y="0"/>
                  </a:lnTo>
                  <a:lnTo>
                    <a:pt x="6044897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24497B"/>
            </a:solidFill>
            <a:ln>
              <a:noFill/>
            </a:ln>
          </p:spPr>
        </p:sp>
        <p:sp>
          <p:nvSpPr>
            <p:cNvPr id="243" name="Google Shape;243;p9"/>
            <p:cNvSpPr txBox="1"/>
            <p:nvPr/>
          </p:nvSpPr>
          <p:spPr>
            <a:xfrm>
              <a:off x="0" y="-28575"/>
              <a:ext cx="6044897" cy="8413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8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4" name="Google Shape;244;p9"/>
          <p:cNvSpPr txBox="1"/>
          <p:nvPr/>
        </p:nvSpPr>
        <p:spPr>
          <a:xfrm>
            <a:off x="1028700" y="820252"/>
            <a:ext cx="6663544" cy="48018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386" u="none" cap="none" strike="noStrike">
                <a:solidFill>
                  <a:srgbClr val="24497B"/>
                </a:solidFill>
                <a:latin typeface="Anton"/>
                <a:ea typeface="Anton"/>
                <a:cs typeface="Anton"/>
                <a:sym typeface="Anton"/>
              </a:rPr>
              <a:t>REQUERIMIENTOS DEL SISTEMA</a:t>
            </a:r>
            <a:endParaRPr/>
          </a:p>
        </p:txBody>
      </p:sp>
      <p:sp>
        <p:nvSpPr>
          <p:cNvPr id="245" name="Google Shape;245;p9"/>
          <p:cNvSpPr txBox="1"/>
          <p:nvPr/>
        </p:nvSpPr>
        <p:spPr>
          <a:xfrm>
            <a:off x="1276271" y="6299994"/>
            <a:ext cx="61683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29" u="none" cap="none" strike="noStrike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 NO FUNCIONALES</a:t>
            </a:r>
            <a:endParaRPr/>
          </a:p>
        </p:txBody>
      </p:sp>
      <p:sp>
        <p:nvSpPr>
          <p:cNvPr id="246" name="Google Shape;246;p9"/>
          <p:cNvSpPr txBox="1"/>
          <p:nvPr/>
        </p:nvSpPr>
        <p:spPr>
          <a:xfrm>
            <a:off x="9958140" y="2661750"/>
            <a:ext cx="827735" cy="5273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52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01</a:t>
            </a:r>
            <a:endParaRPr/>
          </a:p>
        </p:txBody>
      </p:sp>
      <p:sp>
        <p:nvSpPr>
          <p:cNvPr id="247" name="Google Shape;247;p9"/>
          <p:cNvSpPr txBox="1"/>
          <p:nvPr/>
        </p:nvSpPr>
        <p:spPr>
          <a:xfrm>
            <a:off x="9839871" y="3680040"/>
            <a:ext cx="2869977" cy="3356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27" u="none" cap="none" strike="noStrike">
                <a:solidFill>
                  <a:srgbClr val="24497B"/>
                </a:solidFill>
                <a:latin typeface="Anton"/>
                <a:ea typeface="Anton"/>
                <a:cs typeface="Anton"/>
                <a:sym typeface="Anton"/>
              </a:rPr>
              <a:t>Rendimiento</a:t>
            </a:r>
            <a:endParaRPr/>
          </a:p>
        </p:txBody>
      </p:sp>
      <p:sp>
        <p:nvSpPr>
          <p:cNvPr id="248" name="Google Shape;248;p9"/>
          <p:cNvSpPr txBox="1"/>
          <p:nvPr/>
        </p:nvSpPr>
        <p:spPr>
          <a:xfrm>
            <a:off x="9144000" y="4158518"/>
            <a:ext cx="3105360" cy="692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99" u="none" cap="none" strike="noStrike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respuestas &lt; 1,5 s y hasta 500 sesiones concurrentes.</a:t>
            </a:r>
            <a:endParaRPr/>
          </a:p>
        </p:txBody>
      </p:sp>
      <p:sp>
        <p:nvSpPr>
          <p:cNvPr id="249" name="Google Shape;249;p9"/>
          <p:cNvSpPr txBox="1"/>
          <p:nvPr/>
        </p:nvSpPr>
        <p:spPr>
          <a:xfrm>
            <a:off x="13759466" y="2661750"/>
            <a:ext cx="827735" cy="5273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52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02</a:t>
            </a:r>
            <a:endParaRPr/>
          </a:p>
        </p:txBody>
      </p:sp>
      <p:sp>
        <p:nvSpPr>
          <p:cNvPr id="250" name="Google Shape;250;p9"/>
          <p:cNvSpPr txBox="1"/>
          <p:nvPr/>
        </p:nvSpPr>
        <p:spPr>
          <a:xfrm>
            <a:off x="13641197" y="3680040"/>
            <a:ext cx="3011817" cy="3356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27" u="none" cap="none" strike="noStrike">
                <a:solidFill>
                  <a:srgbClr val="24497B"/>
                </a:solidFill>
                <a:latin typeface="Anton"/>
                <a:ea typeface="Anton"/>
                <a:cs typeface="Anton"/>
                <a:sym typeface="Anton"/>
              </a:rPr>
              <a:t> Seguridad</a:t>
            </a:r>
            <a:endParaRPr/>
          </a:p>
        </p:txBody>
      </p:sp>
      <p:sp>
        <p:nvSpPr>
          <p:cNvPr id="251" name="Google Shape;251;p9"/>
          <p:cNvSpPr txBox="1"/>
          <p:nvPr/>
        </p:nvSpPr>
        <p:spPr>
          <a:xfrm>
            <a:off x="13641197" y="4158518"/>
            <a:ext cx="2734391" cy="1044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99" u="none" cap="none" strike="noStrike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Bcrypt, protección contra inyecciones SQL y HTTPS/TLS.</a:t>
            </a:r>
            <a:endParaRPr/>
          </a:p>
        </p:txBody>
      </p:sp>
      <p:sp>
        <p:nvSpPr>
          <p:cNvPr id="252" name="Google Shape;252;p9"/>
          <p:cNvSpPr txBox="1"/>
          <p:nvPr/>
        </p:nvSpPr>
        <p:spPr>
          <a:xfrm>
            <a:off x="11835492" y="6268368"/>
            <a:ext cx="827735" cy="5273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52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03</a:t>
            </a:r>
            <a:endParaRPr/>
          </a:p>
        </p:txBody>
      </p:sp>
      <p:sp>
        <p:nvSpPr>
          <p:cNvPr id="253" name="Google Shape;253;p9"/>
          <p:cNvSpPr txBox="1"/>
          <p:nvPr/>
        </p:nvSpPr>
        <p:spPr>
          <a:xfrm>
            <a:off x="11717224" y="7286658"/>
            <a:ext cx="2869977" cy="654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27" u="none" cap="none" strike="noStrike">
                <a:solidFill>
                  <a:srgbClr val="24497B"/>
                </a:solidFill>
                <a:latin typeface="Anton"/>
                <a:ea typeface="Anton"/>
                <a:cs typeface="Anton"/>
                <a:sym typeface="Anton"/>
              </a:rPr>
              <a:t>Usabilidad y disponibilidad</a:t>
            </a:r>
            <a:endParaRPr/>
          </a:p>
        </p:txBody>
      </p:sp>
      <p:sp>
        <p:nvSpPr>
          <p:cNvPr id="254" name="Google Shape;254;p9"/>
          <p:cNvSpPr txBox="1"/>
          <p:nvPr/>
        </p:nvSpPr>
        <p:spPr>
          <a:xfrm>
            <a:off x="11274859" y="8084157"/>
            <a:ext cx="2734391" cy="1044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99" u="none" cap="none" strike="noStrike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máximo 3 interacciones por registro, Dark Mode y 99% de disponibilidad.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4497B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9" name="Google Shape;259;p10"/>
          <p:cNvCxnSpPr/>
          <p:nvPr/>
        </p:nvCxnSpPr>
        <p:spPr>
          <a:xfrm flipH="1" rot="10800000">
            <a:off x="1597700" y="7793336"/>
            <a:ext cx="15661600" cy="19050"/>
          </a:xfrm>
          <a:prstGeom prst="straightConnector1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lg" w="lg" type="oval"/>
          </a:ln>
        </p:spPr>
      </p:cxnSp>
      <p:grpSp>
        <p:nvGrpSpPr>
          <p:cNvPr id="260" name="Google Shape;260;p10"/>
          <p:cNvGrpSpPr/>
          <p:nvPr/>
        </p:nvGrpSpPr>
        <p:grpSpPr>
          <a:xfrm>
            <a:off x="1028700" y="7242202"/>
            <a:ext cx="1102269" cy="1102269"/>
            <a:chOff x="0" y="0"/>
            <a:chExt cx="812800" cy="812800"/>
          </a:xfrm>
        </p:grpSpPr>
        <p:sp>
          <p:nvSpPr>
            <p:cNvPr id="261" name="Google Shape;261;p10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10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3" name="Google Shape;263;p10"/>
          <p:cNvGrpSpPr/>
          <p:nvPr/>
        </p:nvGrpSpPr>
        <p:grpSpPr>
          <a:xfrm>
            <a:off x="5181338" y="7242202"/>
            <a:ext cx="1102269" cy="1102269"/>
            <a:chOff x="0" y="0"/>
            <a:chExt cx="812800" cy="812800"/>
          </a:xfrm>
        </p:grpSpPr>
        <p:sp>
          <p:nvSpPr>
            <p:cNvPr id="264" name="Google Shape;264;p10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10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6" name="Google Shape;266;p10"/>
          <p:cNvGrpSpPr/>
          <p:nvPr/>
        </p:nvGrpSpPr>
        <p:grpSpPr>
          <a:xfrm>
            <a:off x="9475696" y="7242202"/>
            <a:ext cx="1102269" cy="1102269"/>
            <a:chOff x="0" y="0"/>
            <a:chExt cx="812800" cy="812800"/>
          </a:xfrm>
        </p:grpSpPr>
        <p:sp>
          <p:nvSpPr>
            <p:cNvPr id="267" name="Google Shape;267;p10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10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9" name="Google Shape;269;p10"/>
          <p:cNvGrpSpPr/>
          <p:nvPr/>
        </p:nvGrpSpPr>
        <p:grpSpPr>
          <a:xfrm>
            <a:off x="13770054" y="7242202"/>
            <a:ext cx="1102269" cy="1102269"/>
            <a:chOff x="0" y="0"/>
            <a:chExt cx="812800" cy="812800"/>
          </a:xfrm>
        </p:grpSpPr>
        <p:sp>
          <p:nvSpPr>
            <p:cNvPr id="270" name="Google Shape;270;p10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10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2" name="Google Shape;272;p10"/>
          <p:cNvSpPr/>
          <p:nvPr/>
        </p:nvSpPr>
        <p:spPr>
          <a:xfrm>
            <a:off x="195619" y="2066644"/>
            <a:ext cx="3253233" cy="5029980"/>
          </a:xfrm>
          <a:custGeom>
            <a:rect b="b" l="l" r="r" t="t"/>
            <a:pathLst>
              <a:path extrusionOk="0" h="5029980" w="3253233">
                <a:moveTo>
                  <a:pt x="0" y="0"/>
                </a:moveTo>
                <a:lnTo>
                  <a:pt x="3253233" y="0"/>
                </a:lnTo>
                <a:lnTo>
                  <a:pt x="3253233" y="5029980"/>
                </a:lnTo>
                <a:lnTo>
                  <a:pt x="0" y="50299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1456" l="-119168" r="-121966" t="-17248"/>
            </a:stretch>
          </a:blipFill>
          <a:ln>
            <a:noFill/>
          </a:ln>
        </p:spPr>
      </p:sp>
      <p:sp>
        <p:nvSpPr>
          <p:cNvPr id="273" name="Google Shape;273;p10"/>
          <p:cNvSpPr/>
          <p:nvPr/>
        </p:nvSpPr>
        <p:spPr>
          <a:xfrm>
            <a:off x="3552323" y="2023660"/>
            <a:ext cx="4773348" cy="5029980"/>
          </a:xfrm>
          <a:custGeom>
            <a:rect b="b" l="l" r="r" t="t"/>
            <a:pathLst>
              <a:path extrusionOk="0" h="5029980" w="4773348">
                <a:moveTo>
                  <a:pt x="0" y="0"/>
                </a:moveTo>
                <a:lnTo>
                  <a:pt x="4773348" y="0"/>
                </a:lnTo>
                <a:lnTo>
                  <a:pt x="4773348" y="5029980"/>
                </a:lnTo>
                <a:lnTo>
                  <a:pt x="0" y="50299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4" name="Google Shape;274;p10"/>
          <p:cNvSpPr/>
          <p:nvPr/>
        </p:nvSpPr>
        <p:spPr>
          <a:xfrm>
            <a:off x="8287225" y="2066644"/>
            <a:ext cx="5685107" cy="4959186"/>
          </a:xfrm>
          <a:custGeom>
            <a:rect b="b" l="l" r="r" t="t"/>
            <a:pathLst>
              <a:path extrusionOk="0" h="4959186" w="5685107">
                <a:moveTo>
                  <a:pt x="0" y="0"/>
                </a:moveTo>
                <a:lnTo>
                  <a:pt x="5685107" y="0"/>
                </a:lnTo>
                <a:lnTo>
                  <a:pt x="5685107" y="4959186"/>
                </a:lnTo>
                <a:lnTo>
                  <a:pt x="0" y="49591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5" name="Google Shape;275;p10"/>
          <p:cNvSpPr/>
          <p:nvPr/>
        </p:nvSpPr>
        <p:spPr>
          <a:xfrm>
            <a:off x="13972332" y="2086177"/>
            <a:ext cx="4315668" cy="4841529"/>
          </a:xfrm>
          <a:custGeom>
            <a:rect b="b" l="l" r="r" t="t"/>
            <a:pathLst>
              <a:path extrusionOk="0" h="4841529" w="4315668">
                <a:moveTo>
                  <a:pt x="0" y="0"/>
                </a:moveTo>
                <a:lnTo>
                  <a:pt x="4315668" y="0"/>
                </a:lnTo>
                <a:lnTo>
                  <a:pt x="4315668" y="4841530"/>
                </a:lnTo>
                <a:lnTo>
                  <a:pt x="0" y="48415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-79746" t="0"/>
            </a:stretch>
          </a:blipFill>
          <a:ln>
            <a:noFill/>
          </a:ln>
        </p:spPr>
      </p:sp>
      <p:sp>
        <p:nvSpPr>
          <p:cNvPr id="276" name="Google Shape;276;p10"/>
          <p:cNvSpPr txBox="1"/>
          <p:nvPr/>
        </p:nvSpPr>
        <p:spPr>
          <a:xfrm>
            <a:off x="195619" y="412803"/>
            <a:ext cx="18560154" cy="14222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626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PROTOTIPOS DE PANTALLAS MOCKUPS</a:t>
            </a:r>
            <a:endParaRPr/>
          </a:p>
        </p:txBody>
      </p:sp>
      <p:sp>
        <p:nvSpPr>
          <p:cNvPr id="277" name="Google Shape;277;p10"/>
          <p:cNvSpPr txBox="1"/>
          <p:nvPr/>
        </p:nvSpPr>
        <p:spPr>
          <a:xfrm>
            <a:off x="1230978" y="7523170"/>
            <a:ext cx="697713" cy="6259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716" u="none" cap="none" strike="noStrike">
                <a:solidFill>
                  <a:srgbClr val="24497B"/>
                </a:solidFill>
                <a:latin typeface="Anton"/>
                <a:ea typeface="Anton"/>
                <a:cs typeface="Anton"/>
                <a:sym typeface="Anton"/>
              </a:rPr>
              <a:t>01</a:t>
            </a:r>
            <a:endParaRPr/>
          </a:p>
        </p:txBody>
      </p:sp>
      <p:sp>
        <p:nvSpPr>
          <p:cNvPr id="278" name="Google Shape;278;p10"/>
          <p:cNvSpPr txBox="1"/>
          <p:nvPr/>
        </p:nvSpPr>
        <p:spPr>
          <a:xfrm>
            <a:off x="1028700" y="8585817"/>
            <a:ext cx="2972440" cy="3825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41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Autenticación</a:t>
            </a:r>
            <a:endParaRPr/>
          </a:p>
        </p:txBody>
      </p:sp>
      <p:sp>
        <p:nvSpPr>
          <p:cNvPr id="279" name="Google Shape;279;p10"/>
          <p:cNvSpPr txBox="1"/>
          <p:nvPr/>
        </p:nvSpPr>
        <p:spPr>
          <a:xfrm>
            <a:off x="1028700" y="9408207"/>
            <a:ext cx="2832014" cy="5503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80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acceso unificado para todos los perfiles.</a:t>
            </a:r>
            <a:endParaRPr/>
          </a:p>
        </p:txBody>
      </p:sp>
      <p:sp>
        <p:nvSpPr>
          <p:cNvPr id="280" name="Google Shape;280;p10"/>
          <p:cNvSpPr txBox="1"/>
          <p:nvPr/>
        </p:nvSpPr>
        <p:spPr>
          <a:xfrm>
            <a:off x="5383616" y="7523170"/>
            <a:ext cx="697713" cy="6259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716" u="none" cap="none" strike="noStrike">
                <a:solidFill>
                  <a:srgbClr val="24497B"/>
                </a:solidFill>
                <a:latin typeface="Anton"/>
                <a:ea typeface="Anton"/>
                <a:cs typeface="Anton"/>
                <a:sym typeface="Anton"/>
              </a:rPr>
              <a:t>02</a:t>
            </a:r>
            <a:endParaRPr/>
          </a:p>
        </p:txBody>
      </p:sp>
      <p:sp>
        <p:nvSpPr>
          <p:cNvPr id="281" name="Google Shape;281;p10"/>
          <p:cNvSpPr txBox="1"/>
          <p:nvPr/>
        </p:nvSpPr>
        <p:spPr>
          <a:xfrm>
            <a:off x="5181338" y="8585817"/>
            <a:ext cx="2972440" cy="7475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41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Dashboard Financiero</a:t>
            </a:r>
            <a:endParaRPr/>
          </a:p>
        </p:txBody>
      </p:sp>
      <p:sp>
        <p:nvSpPr>
          <p:cNvPr id="282" name="Google Shape;282;p10"/>
          <p:cNvSpPr txBox="1"/>
          <p:nvPr/>
        </p:nvSpPr>
        <p:spPr>
          <a:xfrm>
            <a:off x="5181338" y="9408207"/>
            <a:ext cx="2832014" cy="5503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80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KPIs, ingresos, morosidad y retención.</a:t>
            </a:r>
            <a:endParaRPr/>
          </a:p>
        </p:txBody>
      </p:sp>
      <p:sp>
        <p:nvSpPr>
          <p:cNvPr id="283" name="Google Shape;283;p10"/>
          <p:cNvSpPr txBox="1"/>
          <p:nvPr/>
        </p:nvSpPr>
        <p:spPr>
          <a:xfrm>
            <a:off x="9677974" y="7523170"/>
            <a:ext cx="697713" cy="6259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716" u="none" cap="none" strike="noStrike">
                <a:solidFill>
                  <a:srgbClr val="24497B"/>
                </a:solidFill>
                <a:latin typeface="Anton"/>
                <a:ea typeface="Anton"/>
                <a:cs typeface="Anton"/>
                <a:sym typeface="Anton"/>
              </a:rPr>
              <a:t>03</a:t>
            </a:r>
            <a:endParaRPr/>
          </a:p>
        </p:txBody>
      </p:sp>
      <p:sp>
        <p:nvSpPr>
          <p:cNvPr id="284" name="Google Shape;284;p10"/>
          <p:cNvSpPr txBox="1"/>
          <p:nvPr/>
        </p:nvSpPr>
        <p:spPr>
          <a:xfrm>
            <a:off x="9475696" y="8585817"/>
            <a:ext cx="2972440" cy="7475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41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Módulo Administrador</a:t>
            </a:r>
            <a:endParaRPr/>
          </a:p>
        </p:txBody>
      </p:sp>
      <p:sp>
        <p:nvSpPr>
          <p:cNvPr id="285" name="Google Shape;285;p10"/>
          <p:cNvSpPr txBox="1"/>
          <p:nvPr/>
        </p:nvSpPr>
        <p:spPr>
          <a:xfrm>
            <a:off x="9475696" y="9408207"/>
            <a:ext cx="2832014" cy="5503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80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gestión de sedes, personal y planes.</a:t>
            </a:r>
            <a:endParaRPr/>
          </a:p>
        </p:txBody>
      </p:sp>
      <p:sp>
        <p:nvSpPr>
          <p:cNvPr id="286" name="Google Shape;286;p10"/>
          <p:cNvSpPr txBox="1"/>
          <p:nvPr/>
        </p:nvSpPr>
        <p:spPr>
          <a:xfrm>
            <a:off x="13972332" y="7523170"/>
            <a:ext cx="697713" cy="6259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716" u="none" cap="none" strike="noStrike">
                <a:solidFill>
                  <a:srgbClr val="24497B"/>
                </a:solidFill>
                <a:latin typeface="Anton"/>
                <a:ea typeface="Anton"/>
                <a:cs typeface="Anton"/>
                <a:sym typeface="Anton"/>
              </a:rPr>
              <a:t>04</a:t>
            </a:r>
            <a:endParaRPr/>
          </a:p>
        </p:txBody>
      </p:sp>
      <p:sp>
        <p:nvSpPr>
          <p:cNvPr id="287" name="Google Shape;287;p10"/>
          <p:cNvSpPr txBox="1"/>
          <p:nvPr/>
        </p:nvSpPr>
        <p:spPr>
          <a:xfrm>
            <a:off x="13770054" y="8585817"/>
            <a:ext cx="3489246" cy="3825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41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Gestión Deportiva</a:t>
            </a:r>
            <a:endParaRPr/>
          </a:p>
        </p:txBody>
      </p:sp>
      <p:sp>
        <p:nvSpPr>
          <p:cNvPr id="288" name="Google Shape;288;p10"/>
          <p:cNvSpPr txBox="1"/>
          <p:nvPr/>
        </p:nvSpPr>
        <p:spPr>
          <a:xfrm>
            <a:off x="13770054" y="9408207"/>
            <a:ext cx="2832014" cy="5503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80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ejercicios, rutinas y planificación de mesociclos.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3" name="Google Shape;293;p11"/>
          <p:cNvGrpSpPr/>
          <p:nvPr/>
        </p:nvGrpSpPr>
        <p:grpSpPr>
          <a:xfrm>
            <a:off x="-514350" y="9495035"/>
            <a:ext cx="22951717" cy="3194596"/>
            <a:chOff x="0" y="-28575"/>
            <a:chExt cx="6044897" cy="841375"/>
          </a:xfrm>
        </p:grpSpPr>
        <p:sp>
          <p:nvSpPr>
            <p:cNvPr id="294" name="Google Shape;294;p11"/>
            <p:cNvSpPr/>
            <p:nvPr/>
          </p:nvSpPr>
          <p:spPr>
            <a:xfrm>
              <a:off x="0" y="0"/>
              <a:ext cx="6044897" cy="812800"/>
            </a:xfrm>
            <a:custGeom>
              <a:rect b="b" l="l" r="r" t="t"/>
              <a:pathLst>
                <a:path extrusionOk="0" h="812800" w="6044897">
                  <a:moveTo>
                    <a:pt x="0" y="0"/>
                  </a:moveTo>
                  <a:lnTo>
                    <a:pt x="6044897" y="0"/>
                  </a:lnTo>
                  <a:lnTo>
                    <a:pt x="6044897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24497B"/>
            </a:solidFill>
            <a:ln>
              <a:noFill/>
            </a:ln>
          </p:spPr>
        </p:sp>
        <p:sp>
          <p:nvSpPr>
            <p:cNvPr id="295" name="Google Shape;295;p11"/>
            <p:cNvSpPr txBox="1"/>
            <p:nvPr/>
          </p:nvSpPr>
          <p:spPr>
            <a:xfrm>
              <a:off x="0" y="-28575"/>
              <a:ext cx="6044897" cy="8413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8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6" name="Google Shape;296;p11"/>
          <p:cNvGrpSpPr/>
          <p:nvPr/>
        </p:nvGrpSpPr>
        <p:grpSpPr>
          <a:xfrm>
            <a:off x="296723" y="4034649"/>
            <a:ext cx="3964594" cy="1723512"/>
            <a:chOff x="0" y="-28575"/>
            <a:chExt cx="1000573" cy="434975"/>
          </a:xfrm>
        </p:grpSpPr>
        <p:sp>
          <p:nvSpPr>
            <p:cNvPr id="297" name="Google Shape;297;p11"/>
            <p:cNvSpPr/>
            <p:nvPr/>
          </p:nvSpPr>
          <p:spPr>
            <a:xfrm>
              <a:off x="0" y="0"/>
              <a:ext cx="1000573" cy="406400"/>
            </a:xfrm>
            <a:custGeom>
              <a:rect b="b" l="l" r="r" t="t"/>
              <a:pathLst>
                <a:path extrusionOk="0" h="406400" w="1000573">
                  <a:moveTo>
                    <a:pt x="0" y="0"/>
                  </a:moveTo>
                  <a:lnTo>
                    <a:pt x="797373" y="0"/>
                  </a:lnTo>
                  <a:lnTo>
                    <a:pt x="1000573" y="203200"/>
                  </a:lnTo>
                  <a:lnTo>
                    <a:pt x="797373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8D1D9"/>
            </a:solidFill>
            <a:ln>
              <a:noFill/>
            </a:ln>
          </p:spPr>
        </p:sp>
        <p:sp>
          <p:nvSpPr>
            <p:cNvPr id="298" name="Google Shape;298;p11"/>
            <p:cNvSpPr txBox="1"/>
            <p:nvPr/>
          </p:nvSpPr>
          <p:spPr>
            <a:xfrm>
              <a:off x="177800" y="-28575"/>
              <a:ext cx="746573" cy="4349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8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9" name="Google Shape;299;p11"/>
          <p:cNvSpPr txBox="1"/>
          <p:nvPr/>
        </p:nvSpPr>
        <p:spPr>
          <a:xfrm>
            <a:off x="296723" y="414408"/>
            <a:ext cx="16760026" cy="30918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927" u="none" cap="none" strike="noStrike">
                <a:solidFill>
                  <a:srgbClr val="24497B"/>
                </a:solidFill>
                <a:latin typeface="Anton"/>
                <a:ea typeface="Anton"/>
                <a:cs typeface="Anton"/>
                <a:sym typeface="Anton"/>
              </a:rPr>
              <a:t>HITOS IMPORTANTES DEL PROYECTO</a:t>
            </a:r>
            <a:endParaRPr/>
          </a:p>
        </p:txBody>
      </p:sp>
      <p:sp>
        <p:nvSpPr>
          <p:cNvPr id="300" name="Google Shape;300;p11"/>
          <p:cNvSpPr txBox="1"/>
          <p:nvPr/>
        </p:nvSpPr>
        <p:spPr>
          <a:xfrm>
            <a:off x="1145872" y="4722329"/>
            <a:ext cx="3115445" cy="4137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13" u="none" cap="none" strike="noStrike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HITO 0 | SEMANA 1-2</a:t>
            </a:r>
            <a:endParaRPr/>
          </a:p>
        </p:txBody>
      </p:sp>
      <p:grpSp>
        <p:nvGrpSpPr>
          <p:cNvPr id="301" name="Google Shape;301;p11"/>
          <p:cNvGrpSpPr/>
          <p:nvPr/>
        </p:nvGrpSpPr>
        <p:grpSpPr>
          <a:xfrm>
            <a:off x="3546218" y="4034649"/>
            <a:ext cx="3964594" cy="1723512"/>
            <a:chOff x="0" y="-28575"/>
            <a:chExt cx="1000573" cy="434975"/>
          </a:xfrm>
        </p:grpSpPr>
        <p:sp>
          <p:nvSpPr>
            <p:cNvPr id="302" name="Google Shape;302;p11"/>
            <p:cNvSpPr/>
            <p:nvPr/>
          </p:nvSpPr>
          <p:spPr>
            <a:xfrm>
              <a:off x="0" y="0"/>
              <a:ext cx="1000573" cy="406400"/>
            </a:xfrm>
            <a:custGeom>
              <a:rect b="b" l="l" r="r" t="t"/>
              <a:pathLst>
                <a:path extrusionOk="0" h="406400" w="1000573">
                  <a:moveTo>
                    <a:pt x="0" y="0"/>
                  </a:moveTo>
                  <a:lnTo>
                    <a:pt x="797373" y="0"/>
                  </a:lnTo>
                  <a:lnTo>
                    <a:pt x="1000573" y="203200"/>
                  </a:lnTo>
                  <a:lnTo>
                    <a:pt x="797373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8D1D9"/>
            </a:solidFill>
            <a:ln>
              <a:noFill/>
            </a:ln>
          </p:spPr>
        </p:sp>
        <p:sp>
          <p:nvSpPr>
            <p:cNvPr id="303" name="Google Shape;303;p11"/>
            <p:cNvSpPr txBox="1"/>
            <p:nvPr/>
          </p:nvSpPr>
          <p:spPr>
            <a:xfrm>
              <a:off x="177800" y="-28575"/>
              <a:ext cx="746573" cy="4349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8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4" name="Google Shape;304;p11"/>
          <p:cNvSpPr txBox="1"/>
          <p:nvPr/>
        </p:nvSpPr>
        <p:spPr>
          <a:xfrm>
            <a:off x="4395368" y="4722329"/>
            <a:ext cx="3115445" cy="4137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13" u="none" cap="none" strike="noStrike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HITO 1 | SEMANAS 4-6</a:t>
            </a:r>
            <a:endParaRPr/>
          </a:p>
        </p:txBody>
      </p:sp>
      <p:grpSp>
        <p:nvGrpSpPr>
          <p:cNvPr id="305" name="Google Shape;305;p11"/>
          <p:cNvGrpSpPr/>
          <p:nvPr/>
        </p:nvGrpSpPr>
        <p:grpSpPr>
          <a:xfrm>
            <a:off x="6795714" y="4034649"/>
            <a:ext cx="3964594" cy="1723512"/>
            <a:chOff x="0" y="-28575"/>
            <a:chExt cx="1000573" cy="434975"/>
          </a:xfrm>
        </p:grpSpPr>
        <p:sp>
          <p:nvSpPr>
            <p:cNvPr id="306" name="Google Shape;306;p11"/>
            <p:cNvSpPr/>
            <p:nvPr/>
          </p:nvSpPr>
          <p:spPr>
            <a:xfrm>
              <a:off x="0" y="0"/>
              <a:ext cx="1000573" cy="406400"/>
            </a:xfrm>
            <a:custGeom>
              <a:rect b="b" l="l" r="r" t="t"/>
              <a:pathLst>
                <a:path extrusionOk="0" h="406400" w="1000573">
                  <a:moveTo>
                    <a:pt x="0" y="0"/>
                  </a:moveTo>
                  <a:lnTo>
                    <a:pt x="797373" y="0"/>
                  </a:lnTo>
                  <a:lnTo>
                    <a:pt x="1000573" y="203200"/>
                  </a:lnTo>
                  <a:lnTo>
                    <a:pt x="797373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8D1D9"/>
            </a:solidFill>
            <a:ln>
              <a:noFill/>
            </a:ln>
          </p:spPr>
        </p:sp>
        <p:sp>
          <p:nvSpPr>
            <p:cNvPr id="307" name="Google Shape;307;p11"/>
            <p:cNvSpPr txBox="1"/>
            <p:nvPr/>
          </p:nvSpPr>
          <p:spPr>
            <a:xfrm>
              <a:off x="177800" y="-28575"/>
              <a:ext cx="746573" cy="4349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8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8" name="Google Shape;308;p11"/>
          <p:cNvSpPr txBox="1"/>
          <p:nvPr/>
        </p:nvSpPr>
        <p:spPr>
          <a:xfrm>
            <a:off x="7644864" y="4722329"/>
            <a:ext cx="3115445" cy="4137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13" u="none" cap="none" strike="noStrike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HITO 2| SEMANAS 7-10</a:t>
            </a:r>
            <a:endParaRPr/>
          </a:p>
        </p:txBody>
      </p:sp>
      <p:grpSp>
        <p:nvGrpSpPr>
          <p:cNvPr id="309" name="Google Shape;309;p11"/>
          <p:cNvGrpSpPr/>
          <p:nvPr/>
        </p:nvGrpSpPr>
        <p:grpSpPr>
          <a:xfrm>
            <a:off x="10045210" y="4034649"/>
            <a:ext cx="3964594" cy="1723512"/>
            <a:chOff x="0" y="-28575"/>
            <a:chExt cx="1000573" cy="434975"/>
          </a:xfrm>
        </p:grpSpPr>
        <p:sp>
          <p:nvSpPr>
            <p:cNvPr id="310" name="Google Shape;310;p11"/>
            <p:cNvSpPr/>
            <p:nvPr/>
          </p:nvSpPr>
          <p:spPr>
            <a:xfrm>
              <a:off x="0" y="0"/>
              <a:ext cx="1000573" cy="406400"/>
            </a:xfrm>
            <a:custGeom>
              <a:rect b="b" l="l" r="r" t="t"/>
              <a:pathLst>
                <a:path extrusionOk="0" h="406400" w="1000573">
                  <a:moveTo>
                    <a:pt x="0" y="0"/>
                  </a:moveTo>
                  <a:lnTo>
                    <a:pt x="797373" y="0"/>
                  </a:lnTo>
                  <a:lnTo>
                    <a:pt x="1000573" y="203200"/>
                  </a:lnTo>
                  <a:lnTo>
                    <a:pt x="797373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8D1D9"/>
            </a:solidFill>
            <a:ln>
              <a:noFill/>
            </a:ln>
          </p:spPr>
        </p:sp>
        <p:sp>
          <p:nvSpPr>
            <p:cNvPr id="311" name="Google Shape;311;p11"/>
            <p:cNvSpPr txBox="1"/>
            <p:nvPr/>
          </p:nvSpPr>
          <p:spPr>
            <a:xfrm>
              <a:off x="177800" y="-28575"/>
              <a:ext cx="746573" cy="4349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8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2" name="Google Shape;312;p11"/>
          <p:cNvSpPr txBox="1"/>
          <p:nvPr/>
        </p:nvSpPr>
        <p:spPr>
          <a:xfrm>
            <a:off x="10894360" y="4722329"/>
            <a:ext cx="3115445" cy="4137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13" u="none" cap="none" strike="noStrike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HITO 3 | SEMANA 11-13</a:t>
            </a:r>
            <a:endParaRPr/>
          </a:p>
        </p:txBody>
      </p:sp>
      <p:grpSp>
        <p:nvGrpSpPr>
          <p:cNvPr id="313" name="Google Shape;313;p11"/>
          <p:cNvGrpSpPr/>
          <p:nvPr/>
        </p:nvGrpSpPr>
        <p:grpSpPr>
          <a:xfrm>
            <a:off x="13294706" y="4034649"/>
            <a:ext cx="3964594" cy="1723512"/>
            <a:chOff x="0" y="-28575"/>
            <a:chExt cx="1000573" cy="434975"/>
          </a:xfrm>
        </p:grpSpPr>
        <p:sp>
          <p:nvSpPr>
            <p:cNvPr id="314" name="Google Shape;314;p11"/>
            <p:cNvSpPr/>
            <p:nvPr/>
          </p:nvSpPr>
          <p:spPr>
            <a:xfrm>
              <a:off x="0" y="0"/>
              <a:ext cx="1000573" cy="406400"/>
            </a:xfrm>
            <a:custGeom>
              <a:rect b="b" l="l" r="r" t="t"/>
              <a:pathLst>
                <a:path extrusionOk="0" h="406400" w="1000573">
                  <a:moveTo>
                    <a:pt x="0" y="0"/>
                  </a:moveTo>
                  <a:lnTo>
                    <a:pt x="797373" y="0"/>
                  </a:lnTo>
                  <a:lnTo>
                    <a:pt x="1000573" y="203200"/>
                  </a:lnTo>
                  <a:lnTo>
                    <a:pt x="797373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8D1D9"/>
            </a:solidFill>
            <a:ln>
              <a:noFill/>
            </a:ln>
          </p:spPr>
        </p:sp>
        <p:sp>
          <p:nvSpPr>
            <p:cNvPr id="315" name="Google Shape;315;p11"/>
            <p:cNvSpPr txBox="1"/>
            <p:nvPr/>
          </p:nvSpPr>
          <p:spPr>
            <a:xfrm>
              <a:off x="177800" y="-28575"/>
              <a:ext cx="746573" cy="4349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8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6" name="Google Shape;316;p11"/>
          <p:cNvSpPr txBox="1"/>
          <p:nvPr/>
        </p:nvSpPr>
        <p:spPr>
          <a:xfrm>
            <a:off x="14143855" y="4722329"/>
            <a:ext cx="3115445" cy="4137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13" u="none" cap="none" strike="noStrike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HITO 4-5 | SEMANA 14-18</a:t>
            </a:r>
            <a:endParaRPr/>
          </a:p>
        </p:txBody>
      </p:sp>
      <p:sp>
        <p:nvSpPr>
          <p:cNvPr id="317" name="Google Shape;317;p11"/>
          <p:cNvSpPr txBox="1"/>
          <p:nvPr/>
        </p:nvSpPr>
        <p:spPr>
          <a:xfrm>
            <a:off x="0" y="5897853"/>
            <a:ext cx="3546218" cy="12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55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Kick-off, alcance y levantamiento de requerimientos</a:t>
            </a:r>
            <a:endParaRPr/>
          </a:p>
        </p:txBody>
      </p:sp>
      <p:sp>
        <p:nvSpPr>
          <p:cNvPr id="318" name="Google Shape;318;p11"/>
          <p:cNvSpPr txBox="1"/>
          <p:nvPr/>
        </p:nvSpPr>
        <p:spPr>
          <a:xfrm>
            <a:off x="3546218" y="5897853"/>
            <a:ext cx="3546218" cy="12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55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ERS, prototipos UI/UX, base de datos y arquitectura Cloud.</a:t>
            </a:r>
            <a:endParaRPr/>
          </a:p>
        </p:txBody>
      </p:sp>
      <p:sp>
        <p:nvSpPr>
          <p:cNvPr id="319" name="Google Shape;319;p11"/>
          <p:cNvSpPr txBox="1"/>
          <p:nvPr/>
        </p:nvSpPr>
        <p:spPr>
          <a:xfrm>
            <a:off x="7092437" y="5897853"/>
            <a:ext cx="3546218" cy="12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55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Desarrollo de API REST, autenticación JWT y motor ACWR.</a:t>
            </a:r>
            <a:endParaRPr/>
          </a:p>
        </p:txBody>
      </p:sp>
      <p:sp>
        <p:nvSpPr>
          <p:cNvPr id="320" name="Google Shape;320;p11"/>
          <p:cNvSpPr txBox="1"/>
          <p:nvPr/>
        </p:nvSpPr>
        <p:spPr>
          <a:xfrm>
            <a:off x="10638655" y="5897853"/>
            <a:ext cx="3546218" cy="1709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55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Plataformas web, aplicación móvil e integración de MercadoPago.</a:t>
            </a:r>
            <a:endParaRPr/>
          </a:p>
        </p:txBody>
      </p:sp>
      <p:sp>
        <p:nvSpPr>
          <p:cNvPr id="321" name="Google Shape;321;p11"/>
          <p:cNvSpPr txBox="1"/>
          <p:nvPr/>
        </p:nvSpPr>
        <p:spPr>
          <a:xfrm>
            <a:off x="14184873" y="5897853"/>
            <a:ext cx="3546218" cy="12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55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QA, UAT, Code Freeze, producción y cierre del proyecto.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4497B"/>
        </a:solidFill>
      </p:bgPr>
    </p:bg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2"/>
          <p:cNvSpPr/>
          <p:nvPr/>
        </p:nvSpPr>
        <p:spPr>
          <a:xfrm>
            <a:off x="591354" y="2544444"/>
            <a:ext cx="2952202" cy="2848875"/>
          </a:xfrm>
          <a:custGeom>
            <a:rect b="b" l="l" r="r" t="t"/>
            <a:pathLst>
              <a:path extrusionOk="0" h="2848875" w="2952202">
                <a:moveTo>
                  <a:pt x="0" y="0"/>
                </a:moveTo>
                <a:lnTo>
                  <a:pt x="2952202" y="0"/>
                </a:lnTo>
                <a:lnTo>
                  <a:pt x="2952202" y="2848875"/>
                </a:lnTo>
                <a:lnTo>
                  <a:pt x="0" y="28488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27" name="Google Shape;327;p12"/>
          <p:cNvSpPr/>
          <p:nvPr/>
        </p:nvSpPr>
        <p:spPr>
          <a:xfrm>
            <a:off x="1281786" y="3194998"/>
            <a:ext cx="1571338" cy="1547768"/>
          </a:xfrm>
          <a:custGeom>
            <a:rect b="b" l="l" r="r" t="t"/>
            <a:pathLst>
              <a:path extrusionOk="0" h="1547768" w="1571338">
                <a:moveTo>
                  <a:pt x="0" y="0"/>
                </a:moveTo>
                <a:lnTo>
                  <a:pt x="1571338" y="0"/>
                </a:lnTo>
                <a:lnTo>
                  <a:pt x="1571338" y="1547768"/>
                </a:lnTo>
                <a:lnTo>
                  <a:pt x="0" y="15477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28" name="Google Shape;328;p12"/>
          <p:cNvSpPr/>
          <p:nvPr/>
        </p:nvSpPr>
        <p:spPr>
          <a:xfrm>
            <a:off x="4067181" y="2456684"/>
            <a:ext cx="2952202" cy="2848875"/>
          </a:xfrm>
          <a:custGeom>
            <a:rect b="b" l="l" r="r" t="t"/>
            <a:pathLst>
              <a:path extrusionOk="0" h="2848875" w="2952202">
                <a:moveTo>
                  <a:pt x="0" y="0"/>
                </a:moveTo>
                <a:lnTo>
                  <a:pt x="2952201" y="0"/>
                </a:lnTo>
                <a:lnTo>
                  <a:pt x="2952201" y="2848875"/>
                </a:lnTo>
                <a:lnTo>
                  <a:pt x="0" y="28488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29" name="Google Shape;329;p12"/>
          <p:cNvSpPr/>
          <p:nvPr/>
        </p:nvSpPr>
        <p:spPr>
          <a:xfrm>
            <a:off x="4979218" y="3325518"/>
            <a:ext cx="1177435" cy="1159773"/>
          </a:xfrm>
          <a:custGeom>
            <a:rect b="b" l="l" r="r" t="t"/>
            <a:pathLst>
              <a:path extrusionOk="0" h="1159773" w="1177435">
                <a:moveTo>
                  <a:pt x="0" y="0"/>
                </a:moveTo>
                <a:lnTo>
                  <a:pt x="1177434" y="0"/>
                </a:lnTo>
                <a:lnTo>
                  <a:pt x="1177434" y="1159774"/>
                </a:lnTo>
                <a:lnTo>
                  <a:pt x="0" y="11597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30" name="Google Shape;330;p12"/>
          <p:cNvSpPr/>
          <p:nvPr/>
        </p:nvSpPr>
        <p:spPr>
          <a:xfrm>
            <a:off x="7574328" y="2518543"/>
            <a:ext cx="2952202" cy="2848875"/>
          </a:xfrm>
          <a:custGeom>
            <a:rect b="b" l="l" r="r" t="t"/>
            <a:pathLst>
              <a:path extrusionOk="0" h="2848875" w="2952202">
                <a:moveTo>
                  <a:pt x="0" y="0"/>
                </a:moveTo>
                <a:lnTo>
                  <a:pt x="2952202" y="0"/>
                </a:lnTo>
                <a:lnTo>
                  <a:pt x="2952202" y="2848874"/>
                </a:lnTo>
                <a:lnTo>
                  <a:pt x="0" y="28488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31" name="Google Shape;331;p12"/>
          <p:cNvSpPr/>
          <p:nvPr/>
        </p:nvSpPr>
        <p:spPr>
          <a:xfrm>
            <a:off x="11081476" y="2580401"/>
            <a:ext cx="2952202" cy="2848875"/>
          </a:xfrm>
          <a:custGeom>
            <a:rect b="b" l="l" r="r" t="t"/>
            <a:pathLst>
              <a:path extrusionOk="0" h="2848875" w="2952202">
                <a:moveTo>
                  <a:pt x="0" y="0"/>
                </a:moveTo>
                <a:lnTo>
                  <a:pt x="2952201" y="0"/>
                </a:lnTo>
                <a:lnTo>
                  <a:pt x="2952201" y="2848875"/>
                </a:lnTo>
                <a:lnTo>
                  <a:pt x="0" y="28488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32" name="Google Shape;332;p12"/>
          <p:cNvSpPr/>
          <p:nvPr/>
        </p:nvSpPr>
        <p:spPr>
          <a:xfrm>
            <a:off x="14588623" y="2642260"/>
            <a:ext cx="2952202" cy="2848875"/>
          </a:xfrm>
          <a:custGeom>
            <a:rect b="b" l="l" r="r" t="t"/>
            <a:pathLst>
              <a:path extrusionOk="0" h="2848875" w="2952202">
                <a:moveTo>
                  <a:pt x="0" y="0"/>
                </a:moveTo>
                <a:lnTo>
                  <a:pt x="2952202" y="0"/>
                </a:lnTo>
                <a:lnTo>
                  <a:pt x="2952202" y="2848874"/>
                </a:lnTo>
                <a:lnTo>
                  <a:pt x="0" y="28488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33" name="Google Shape;333;p12"/>
          <p:cNvSpPr/>
          <p:nvPr/>
        </p:nvSpPr>
        <p:spPr>
          <a:xfrm>
            <a:off x="8457657" y="3011311"/>
            <a:ext cx="1576579" cy="1659556"/>
          </a:xfrm>
          <a:custGeom>
            <a:rect b="b" l="l" r="r" t="t"/>
            <a:pathLst>
              <a:path extrusionOk="0" h="1659556" w="1576579">
                <a:moveTo>
                  <a:pt x="0" y="0"/>
                </a:moveTo>
                <a:lnTo>
                  <a:pt x="1576579" y="0"/>
                </a:lnTo>
                <a:lnTo>
                  <a:pt x="1576579" y="1659556"/>
                </a:lnTo>
                <a:lnTo>
                  <a:pt x="0" y="16595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34" name="Google Shape;334;p12"/>
          <p:cNvSpPr/>
          <p:nvPr/>
        </p:nvSpPr>
        <p:spPr>
          <a:xfrm>
            <a:off x="12027827" y="3115513"/>
            <a:ext cx="1108806" cy="1654935"/>
          </a:xfrm>
          <a:custGeom>
            <a:rect b="b" l="l" r="r" t="t"/>
            <a:pathLst>
              <a:path extrusionOk="0" h="1654935" w="1108806">
                <a:moveTo>
                  <a:pt x="0" y="0"/>
                </a:moveTo>
                <a:lnTo>
                  <a:pt x="1108806" y="0"/>
                </a:lnTo>
                <a:lnTo>
                  <a:pt x="1108806" y="1654934"/>
                </a:lnTo>
                <a:lnTo>
                  <a:pt x="0" y="16549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35" name="Google Shape;335;p12"/>
          <p:cNvSpPr/>
          <p:nvPr/>
        </p:nvSpPr>
        <p:spPr>
          <a:xfrm>
            <a:off x="15515734" y="3383251"/>
            <a:ext cx="1097981" cy="1291742"/>
          </a:xfrm>
          <a:custGeom>
            <a:rect b="b" l="l" r="r" t="t"/>
            <a:pathLst>
              <a:path extrusionOk="0" h="1291742" w="1097981">
                <a:moveTo>
                  <a:pt x="0" y="0"/>
                </a:moveTo>
                <a:lnTo>
                  <a:pt x="1097980" y="0"/>
                </a:lnTo>
                <a:lnTo>
                  <a:pt x="1097980" y="1291742"/>
                </a:lnTo>
                <a:lnTo>
                  <a:pt x="0" y="12917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36" name="Google Shape;336;p12"/>
          <p:cNvGrpSpPr/>
          <p:nvPr/>
        </p:nvGrpSpPr>
        <p:grpSpPr>
          <a:xfrm>
            <a:off x="1222144" y="5794610"/>
            <a:ext cx="16044892" cy="1103415"/>
            <a:chOff x="0" y="-28575"/>
            <a:chExt cx="4225815" cy="290611"/>
          </a:xfrm>
        </p:grpSpPr>
        <p:sp>
          <p:nvSpPr>
            <p:cNvPr id="337" name="Google Shape;337;p12"/>
            <p:cNvSpPr/>
            <p:nvPr/>
          </p:nvSpPr>
          <p:spPr>
            <a:xfrm>
              <a:off x="0" y="0"/>
              <a:ext cx="4225815" cy="262036"/>
            </a:xfrm>
            <a:custGeom>
              <a:rect b="b" l="l" r="r" t="t"/>
              <a:pathLst>
                <a:path extrusionOk="0" h="262036" w="4225815">
                  <a:moveTo>
                    <a:pt x="4022615" y="0"/>
                  </a:moveTo>
                  <a:cubicBezTo>
                    <a:pt x="4134839" y="0"/>
                    <a:pt x="4225815" y="58659"/>
                    <a:pt x="4225815" y="131018"/>
                  </a:cubicBezTo>
                  <a:cubicBezTo>
                    <a:pt x="4225815" y="203378"/>
                    <a:pt x="4134839" y="262036"/>
                    <a:pt x="4022615" y="262036"/>
                  </a:cubicBezTo>
                  <a:lnTo>
                    <a:pt x="203200" y="262036"/>
                  </a:lnTo>
                  <a:cubicBezTo>
                    <a:pt x="90976" y="262036"/>
                    <a:pt x="0" y="203378"/>
                    <a:pt x="0" y="131018"/>
                  </a:cubicBezTo>
                  <a:cubicBezTo>
                    <a:pt x="0" y="58659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C8D1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12"/>
            <p:cNvSpPr txBox="1"/>
            <p:nvPr/>
          </p:nvSpPr>
          <p:spPr>
            <a:xfrm>
              <a:off x="0" y="-28575"/>
              <a:ext cx="4225815" cy="2906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8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9" name="Google Shape;339;p12"/>
          <p:cNvGrpSpPr/>
          <p:nvPr/>
        </p:nvGrpSpPr>
        <p:grpSpPr>
          <a:xfrm>
            <a:off x="680579" y="6946337"/>
            <a:ext cx="17128021" cy="3071333"/>
            <a:chOff x="0" y="-28575"/>
            <a:chExt cx="1981807" cy="355370"/>
          </a:xfrm>
        </p:grpSpPr>
        <p:sp>
          <p:nvSpPr>
            <p:cNvPr id="340" name="Google Shape;340;p12"/>
            <p:cNvSpPr/>
            <p:nvPr/>
          </p:nvSpPr>
          <p:spPr>
            <a:xfrm>
              <a:off x="0" y="0"/>
              <a:ext cx="1981807" cy="326795"/>
            </a:xfrm>
            <a:custGeom>
              <a:rect b="b" l="l" r="r" t="t"/>
              <a:pathLst>
                <a:path extrusionOk="0" h="326795" w="1981807">
                  <a:moveTo>
                    <a:pt x="8828" y="0"/>
                  </a:moveTo>
                  <a:lnTo>
                    <a:pt x="1972979" y="0"/>
                  </a:lnTo>
                  <a:cubicBezTo>
                    <a:pt x="1977855" y="0"/>
                    <a:pt x="1981807" y="3953"/>
                    <a:pt x="1981807" y="8828"/>
                  </a:cubicBezTo>
                  <a:lnTo>
                    <a:pt x="1981807" y="317967"/>
                  </a:lnTo>
                  <a:cubicBezTo>
                    <a:pt x="1981807" y="322843"/>
                    <a:pt x="1977855" y="326795"/>
                    <a:pt x="1972979" y="326795"/>
                  </a:cubicBezTo>
                  <a:lnTo>
                    <a:pt x="8828" y="326795"/>
                  </a:lnTo>
                  <a:cubicBezTo>
                    <a:pt x="3953" y="326795"/>
                    <a:pt x="0" y="322843"/>
                    <a:pt x="0" y="317967"/>
                  </a:cubicBezTo>
                  <a:lnTo>
                    <a:pt x="0" y="8828"/>
                  </a:lnTo>
                  <a:cubicBezTo>
                    <a:pt x="0" y="3953"/>
                    <a:pt x="3953" y="0"/>
                    <a:pt x="882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12"/>
            <p:cNvSpPr txBox="1"/>
            <p:nvPr/>
          </p:nvSpPr>
          <p:spPr>
            <a:xfrm>
              <a:off x="0" y="-28575"/>
              <a:ext cx="1981807" cy="3553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8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2" name="Google Shape;342;p12"/>
          <p:cNvGrpSpPr/>
          <p:nvPr/>
        </p:nvGrpSpPr>
        <p:grpSpPr>
          <a:xfrm>
            <a:off x="11549649" y="8953569"/>
            <a:ext cx="4800481" cy="1000706"/>
            <a:chOff x="0" y="-28575"/>
            <a:chExt cx="635000" cy="132372"/>
          </a:xfrm>
        </p:grpSpPr>
        <p:sp>
          <p:nvSpPr>
            <p:cNvPr id="343" name="Google Shape;343;p12"/>
            <p:cNvSpPr/>
            <p:nvPr/>
          </p:nvSpPr>
          <p:spPr>
            <a:xfrm>
              <a:off x="0" y="0"/>
              <a:ext cx="635000" cy="103797"/>
            </a:xfrm>
            <a:custGeom>
              <a:rect b="b" l="l" r="r" t="t"/>
              <a:pathLst>
                <a:path extrusionOk="0" h="103797" w="635000">
                  <a:moveTo>
                    <a:pt x="31499" y="0"/>
                  </a:moveTo>
                  <a:lnTo>
                    <a:pt x="603501" y="0"/>
                  </a:lnTo>
                  <a:cubicBezTo>
                    <a:pt x="611855" y="0"/>
                    <a:pt x="619867" y="3319"/>
                    <a:pt x="625774" y="9226"/>
                  </a:cubicBezTo>
                  <a:cubicBezTo>
                    <a:pt x="631681" y="15133"/>
                    <a:pt x="635000" y="23145"/>
                    <a:pt x="635000" y="31499"/>
                  </a:cubicBezTo>
                  <a:lnTo>
                    <a:pt x="635000" y="72298"/>
                  </a:lnTo>
                  <a:cubicBezTo>
                    <a:pt x="635000" y="89694"/>
                    <a:pt x="620898" y="103797"/>
                    <a:pt x="603501" y="103797"/>
                  </a:cubicBezTo>
                  <a:lnTo>
                    <a:pt x="31499" y="103797"/>
                  </a:lnTo>
                  <a:cubicBezTo>
                    <a:pt x="23145" y="103797"/>
                    <a:pt x="15133" y="100478"/>
                    <a:pt x="9226" y="94571"/>
                  </a:cubicBezTo>
                  <a:cubicBezTo>
                    <a:pt x="3319" y="88664"/>
                    <a:pt x="0" y="80652"/>
                    <a:pt x="0" y="72298"/>
                  </a:cubicBezTo>
                  <a:lnTo>
                    <a:pt x="0" y="31499"/>
                  </a:lnTo>
                  <a:cubicBezTo>
                    <a:pt x="0" y="23145"/>
                    <a:pt x="3319" y="15133"/>
                    <a:pt x="9226" y="9226"/>
                  </a:cubicBezTo>
                  <a:cubicBezTo>
                    <a:pt x="15133" y="3319"/>
                    <a:pt x="23145" y="0"/>
                    <a:pt x="31499" y="0"/>
                  </a:cubicBezTo>
                  <a:close/>
                </a:path>
              </a:pathLst>
            </a:custGeom>
            <a:solidFill>
              <a:srgbClr val="FBE6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12"/>
            <p:cNvSpPr txBox="1"/>
            <p:nvPr/>
          </p:nvSpPr>
          <p:spPr>
            <a:xfrm>
              <a:off x="0" y="-28575"/>
              <a:ext cx="635000" cy="1323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8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5" name="Google Shape;345;p12"/>
          <p:cNvSpPr txBox="1"/>
          <p:nvPr/>
        </p:nvSpPr>
        <p:spPr>
          <a:xfrm>
            <a:off x="1815626" y="523050"/>
            <a:ext cx="16373700" cy="22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604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COSTOS DEL</a:t>
            </a:r>
            <a:r>
              <a:rPr b="0" i="0" lang="en-US" sz="14604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 </a:t>
            </a:r>
            <a:r>
              <a:rPr b="0" i="0" lang="en-US" sz="14604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PROYECTO</a:t>
            </a:r>
            <a:endParaRPr/>
          </a:p>
        </p:txBody>
      </p:sp>
      <p:sp>
        <p:nvSpPr>
          <p:cNvPr id="346" name="Google Shape;346;p12"/>
          <p:cNvSpPr txBox="1"/>
          <p:nvPr/>
        </p:nvSpPr>
        <p:spPr>
          <a:xfrm>
            <a:off x="591354" y="2677911"/>
            <a:ext cx="2952300" cy="4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77">
                <a:latin typeface="Anton"/>
                <a:ea typeface="Anton"/>
                <a:cs typeface="Anton"/>
                <a:sym typeface="Anton"/>
              </a:rPr>
              <a:t>Planificación</a:t>
            </a:r>
            <a:endParaRPr/>
          </a:p>
        </p:txBody>
      </p:sp>
      <p:sp>
        <p:nvSpPr>
          <p:cNvPr id="347" name="Google Shape;347;p12"/>
          <p:cNvSpPr txBox="1"/>
          <p:nvPr/>
        </p:nvSpPr>
        <p:spPr>
          <a:xfrm>
            <a:off x="747175" y="4838264"/>
            <a:ext cx="2952202" cy="4672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77" u="none" cap="none" strike="noStrike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$865.500 CLP</a:t>
            </a:r>
            <a:endParaRPr/>
          </a:p>
        </p:txBody>
      </p:sp>
      <p:sp>
        <p:nvSpPr>
          <p:cNvPr id="348" name="Google Shape;348;p12"/>
          <p:cNvSpPr txBox="1"/>
          <p:nvPr/>
        </p:nvSpPr>
        <p:spPr>
          <a:xfrm>
            <a:off x="4091834" y="2496819"/>
            <a:ext cx="2952300" cy="4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77">
                <a:latin typeface="Anton"/>
                <a:ea typeface="Anton"/>
                <a:cs typeface="Anton"/>
                <a:sym typeface="Anton"/>
              </a:rPr>
              <a:t>Análisis</a:t>
            </a:r>
            <a:r>
              <a:rPr b="0" i="0" lang="en-US" sz="2777" u="none" cap="none" strike="noStrike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 y </a:t>
            </a:r>
            <a:r>
              <a:rPr lang="en-US" sz="2777">
                <a:latin typeface="Anton"/>
                <a:ea typeface="Anton"/>
                <a:cs typeface="Anton"/>
                <a:sym typeface="Anton"/>
              </a:rPr>
              <a:t>diseño</a:t>
            </a:r>
            <a:endParaRPr/>
          </a:p>
        </p:txBody>
      </p:sp>
      <p:sp>
        <p:nvSpPr>
          <p:cNvPr id="349" name="Google Shape;349;p12"/>
          <p:cNvSpPr txBox="1"/>
          <p:nvPr/>
        </p:nvSpPr>
        <p:spPr>
          <a:xfrm>
            <a:off x="4223002" y="4750504"/>
            <a:ext cx="2952202" cy="4672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77" u="none" cap="none" strike="noStrike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$1.587.000 CLP</a:t>
            </a:r>
            <a:endParaRPr/>
          </a:p>
        </p:txBody>
      </p:sp>
      <p:sp>
        <p:nvSpPr>
          <p:cNvPr id="350" name="Google Shape;350;p12"/>
          <p:cNvSpPr txBox="1"/>
          <p:nvPr/>
        </p:nvSpPr>
        <p:spPr>
          <a:xfrm>
            <a:off x="7598982" y="2558678"/>
            <a:ext cx="2952202" cy="4672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77" u="none" cap="none" strike="noStrike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Desarrollo</a:t>
            </a:r>
            <a:endParaRPr/>
          </a:p>
        </p:txBody>
      </p:sp>
      <p:sp>
        <p:nvSpPr>
          <p:cNvPr id="351" name="Google Shape;351;p12"/>
          <p:cNvSpPr txBox="1"/>
          <p:nvPr/>
        </p:nvSpPr>
        <p:spPr>
          <a:xfrm>
            <a:off x="7730149" y="4812362"/>
            <a:ext cx="2952202" cy="4672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77" u="none" cap="none" strike="noStrike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$7.505.500 CLP</a:t>
            </a:r>
            <a:endParaRPr/>
          </a:p>
        </p:txBody>
      </p:sp>
      <p:sp>
        <p:nvSpPr>
          <p:cNvPr id="352" name="Google Shape;352;p12"/>
          <p:cNvSpPr txBox="1"/>
          <p:nvPr/>
        </p:nvSpPr>
        <p:spPr>
          <a:xfrm>
            <a:off x="11106129" y="2620537"/>
            <a:ext cx="2952202" cy="4672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77" u="none" cap="none" strike="noStrike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Pruebas y QA</a:t>
            </a:r>
            <a:endParaRPr/>
          </a:p>
        </p:txBody>
      </p:sp>
      <p:sp>
        <p:nvSpPr>
          <p:cNvPr id="353" name="Google Shape;353;p12"/>
          <p:cNvSpPr txBox="1"/>
          <p:nvPr/>
        </p:nvSpPr>
        <p:spPr>
          <a:xfrm>
            <a:off x="11237297" y="4874221"/>
            <a:ext cx="2952202" cy="4672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77" u="none" cap="none" strike="noStrike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$1.511.000 CLP</a:t>
            </a:r>
            <a:endParaRPr/>
          </a:p>
        </p:txBody>
      </p:sp>
      <p:sp>
        <p:nvSpPr>
          <p:cNvPr id="354" name="Google Shape;354;p12"/>
          <p:cNvSpPr txBox="1"/>
          <p:nvPr/>
        </p:nvSpPr>
        <p:spPr>
          <a:xfrm>
            <a:off x="14613277" y="2682395"/>
            <a:ext cx="2952300" cy="10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77">
                <a:latin typeface="Anton"/>
                <a:ea typeface="Anton"/>
                <a:cs typeface="Anton"/>
                <a:sym typeface="Anton"/>
              </a:rPr>
              <a:t>Implementación</a:t>
            </a:r>
            <a:r>
              <a:rPr b="0" i="0" lang="en-US" sz="2777" u="none" cap="none" strike="noStrike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 y </a:t>
            </a:r>
            <a:r>
              <a:rPr lang="en-US" sz="2777">
                <a:latin typeface="Anton"/>
                <a:ea typeface="Anton"/>
                <a:cs typeface="Anton"/>
                <a:sym typeface="Anton"/>
              </a:rPr>
              <a:t>cierre</a:t>
            </a:r>
            <a:endParaRPr/>
          </a:p>
        </p:txBody>
      </p:sp>
      <p:sp>
        <p:nvSpPr>
          <p:cNvPr id="355" name="Google Shape;355;p12"/>
          <p:cNvSpPr txBox="1"/>
          <p:nvPr/>
        </p:nvSpPr>
        <p:spPr>
          <a:xfrm>
            <a:off x="14744444" y="4936080"/>
            <a:ext cx="2952202" cy="4672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77" u="none" cap="none" strike="noStrike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$1.031.000 CLP</a:t>
            </a:r>
            <a:endParaRPr/>
          </a:p>
        </p:txBody>
      </p:sp>
      <p:sp>
        <p:nvSpPr>
          <p:cNvPr id="356" name="Google Shape;356;p12"/>
          <p:cNvSpPr txBox="1"/>
          <p:nvPr/>
        </p:nvSpPr>
        <p:spPr>
          <a:xfrm>
            <a:off x="2223276" y="5900709"/>
            <a:ext cx="142929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199" u="none" cap="none" strike="noStrike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Subtotal Honorarios : $12.500.</a:t>
            </a:r>
            <a:r>
              <a:rPr lang="en-US" sz="5199">
                <a:latin typeface="Anton"/>
                <a:ea typeface="Anton"/>
                <a:cs typeface="Anton"/>
                <a:sym typeface="Anton"/>
              </a:rPr>
              <a:t>000 CLP</a:t>
            </a:r>
            <a:endParaRPr/>
          </a:p>
        </p:txBody>
      </p:sp>
      <p:sp>
        <p:nvSpPr>
          <p:cNvPr id="357" name="Google Shape;357;p12"/>
          <p:cNvSpPr txBox="1"/>
          <p:nvPr/>
        </p:nvSpPr>
        <p:spPr>
          <a:xfrm>
            <a:off x="-3079325" y="7358274"/>
            <a:ext cx="14293011" cy="8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Costos operativos</a:t>
            </a:r>
            <a:endParaRPr/>
          </a:p>
        </p:txBody>
      </p:sp>
      <p:sp>
        <p:nvSpPr>
          <p:cNvPr id="358" name="Google Shape;358;p12"/>
          <p:cNvSpPr txBox="1"/>
          <p:nvPr/>
        </p:nvSpPr>
        <p:spPr>
          <a:xfrm>
            <a:off x="-1393791" y="8493019"/>
            <a:ext cx="10957464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Infraestructura en Cloud $45.000 CLP/mes</a:t>
            </a:r>
            <a:endParaRPr/>
          </a:p>
        </p:txBody>
      </p:sp>
      <p:sp>
        <p:nvSpPr>
          <p:cNvPr id="359" name="Google Shape;359;p12"/>
          <p:cNvSpPr txBox="1"/>
          <p:nvPr/>
        </p:nvSpPr>
        <p:spPr>
          <a:xfrm>
            <a:off x="-1255730" y="9069600"/>
            <a:ext cx="10957464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Cuentas de Desarrollador $120.000 CLP/anual</a:t>
            </a:r>
            <a:endParaRPr/>
          </a:p>
        </p:txBody>
      </p:sp>
      <p:sp>
        <p:nvSpPr>
          <p:cNvPr id="360" name="Google Shape;360;p12"/>
          <p:cNvSpPr txBox="1"/>
          <p:nvPr/>
        </p:nvSpPr>
        <p:spPr>
          <a:xfrm>
            <a:off x="8364247" y="7326650"/>
            <a:ext cx="11388168" cy="671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83" u="none" cap="none" strike="noStrike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Inversion Total</a:t>
            </a:r>
            <a:endParaRPr/>
          </a:p>
        </p:txBody>
      </p:sp>
      <p:sp>
        <p:nvSpPr>
          <p:cNvPr id="361" name="Google Shape;361;p12"/>
          <p:cNvSpPr txBox="1"/>
          <p:nvPr/>
        </p:nvSpPr>
        <p:spPr>
          <a:xfrm>
            <a:off x="8710766" y="8026505"/>
            <a:ext cx="10957464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$12.800.000 CLP</a:t>
            </a:r>
            <a:endParaRPr/>
          </a:p>
        </p:txBody>
      </p:sp>
      <p:sp>
        <p:nvSpPr>
          <p:cNvPr id="362" name="Google Shape;362;p12"/>
          <p:cNvSpPr txBox="1"/>
          <p:nvPr/>
        </p:nvSpPr>
        <p:spPr>
          <a:xfrm>
            <a:off x="8364247" y="8498310"/>
            <a:ext cx="11388168" cy="671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83" u="none" cap="none" strike="noStrike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Precio Final con Utilidad</a:t>
            </a:r>
            <a:endParaRPr/>
          </a:p>
        </p:txBody>
      </p:sp>
      <p:sp>
        <p:nvSpPr>
          <p:cNvPr id="363" name="Google Shape;363;p12"/>
          <p:cNvSpPr txBox="1"/>
          <p:nvPr/>
        </p:nvSpPr>
        <p:spPr>
          <a:xfrm>
            <a:off x="8255806" y="9263317"/>
            <a:ext cx="11388168" cy="671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83" u="none" cap="none" strike="noStrike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$20.480.000 CLP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8" name="Google Shape;368;p13"/>
          <p:cNvGrpSpPr/>
          <p:nvPr/>
        </p:nvGrpSpPr>
        <p:grpSpPr>
          <a:xfrm>
            <a:off x="-514350" y="9495035"/>
            <a:ext cx="22951717" cy="3194596"/>
            <a:chOff x="0" y="-28575"/>
            <a:chExt cx="6044897" cy="841375"/>
          </a:xfrm>
        </p:grpSpPr>
        <p:sp>
          <p:nvSpPr>
            <p:cNvPr id="369" name="Google Shape;369;p13"/>
            <p:cNvSpPr/>
            <p:nvPr/>
          </p:nvSpPr>
          <p:spPr>
            <a:xfrm>
              <a:off x="0" y="0"/>
              <a:ext cx="6044897" cy="812800"/>
            </a:xfrm>
            <a:custGeom>
              <a:rect b="b" l="l" r="r" t="t"/>
              <a:pathLst>
                <a:path extrusionOk="0" h="812800" w="6044897">
                  <a:moveTo>
                    <a:pt x="0" y="0"/>
                  </a:moveTo>
                  <a:lnTo>
                    <a:pt x="6044897" y="0"/>
                  </a:lnTo>
                  <a:lnTo>
                    <a:pt x="6044897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24497B"/>
            </a:solidFill>
            <a:ln>
              <a:noFill/>
            </a:ln>
          </p:spPr>
        </p:sp>
        <p:sp>
          <p:nvSpPr>
            <p:cNvPr id="370" name="Google Shape;370;p13"/>
            <p:cNvSpPr txBox="1"/>
            <p:nvPr/>
          </p:nvSpPr>
          <p:spPr>
            <a:xfrm>
              <a:off x="0" y="-28575"/>
              <a:ext cx="6044897" cy="8413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8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1" name="Google Shape;371;p13"/>
          <p:cNvSpPr/>
          <p:nvPr/>
        </p:nvSpPr>
        <p:spPr>
          <a:xfrm>
            <a:off x="12041907" y="218716"/>
            <a:ext cx="4213565" cy="9039584"/>
          </a:xfrm>
          <a:custGeom>
            <a:rect b="b" l="l" r="r" t="t"/>
            <a:pathLst>
              <a:path extrusionOk="0" h="2189552" w="1020602">
                <a:moveTo>
                  <a:pt x="0" y="0"/>
                </a:moveTo>
                <a:lnTo>
                  <a:pt x="1020602" y="0"/>
                </a:lnTo>
                <a:lnTo>
                  <a:pt x="1020602" y="2189552"/>
                </a:lnTo>
                <a:lnTo>
                  <a:pt x="0" y="2189552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9620" l="0" r="0" t="-9620"/>
            </a:stretch>
          </a:blipFill>
          <a:ln>
            <a:noFill/>
          </a:ln>
        </p:spPr>
      </p:sp>
      <p:sp>
        <p:nvSpPr>
          <p:cNvPr id="372" name="Google Shape;372;p13"/>
          <p:cNvSpPr/>
          <p:nvPr/>
        </p:nvSpPr>
        <p:spPr>
          <a:xfrm>
            <a:off x="759364" y="4389158"/>
            <a:ext cx="1005061" cy="1005061"/>
          </a:xfrm>
          <a:custGeom>
            <a:rect b="b" l="l" r="r" t="t"/>
            <a:pathLst>
              <a:path extrusionOk="0" h="6350000" w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2449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3"/>
          <p:cNvSpPr/>
          <p:nvPr/>
        </p:nvSpPr>
        <p:spPr>
          <a:xfrm>
            <a:off x="759364" y="6017467"/>
            <a:ext cx="986850" cy="986850"/>
          </a:xfrm>
          <a:custGeom>
            <a:rect b="b" l="l" r="r" t="t"/>
            <a:pathLst>
              <a:path extrusionOk="0" h="6350000" w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2449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3"/>
          <p:cNvSpPr/>
          <p:nvPr/>
        </p:nvSpPr>
        <p:spPr>
          <a:xfrm>
            <a:off x="777575" y="7623442"/>
            <a:ext cx="986850" cy="986850"/>
          </a:xfrm>
          <a:custGeom>
            <a:rect b="b" l="l" r="r" t="t"/>
            <a:pathLst>
              <a:path extrusionOk="0" h="6350000" w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2449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13"/>
          <p:cNvSpPr/>
          <p:nvPr/>
        </p:nvSpPr>
        <p:spPr>
          <a:xfrm>
            <a:off x="5866334" y="6152135"/>
            <a:ext cx="986850" cy="986850"/>
          </a:xfrm>
          <a:custGeom>
            <a:rect b="b" l="l" r="r" t="t"/>
            <a:pathLst>
              <a:path extrusionOk="0" h="6350000" w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2449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3"/>
          <p:cNvSpPr/>
          <p:nvPr/>
        </p:nvSpPr>
        <p:spPr>
          <a:xfrm>
            <a:off x="5866334" y="4448776"/>
            <a:ext cx="986850" cy="986850"/>
          </a:xfrm>
          <a:custGeom>
            <a:rect b="b" l="l" r="r" t="t"/>
            <a:pathLst>
              <a:path extrusionOk="0" h="6350000" w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2449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3"/>
          <p:cNvSpPr/>
          <p:nvPr/>
        </p:nvSpPr>
        <p:spPr>
          <a:xfrm>
            <a:off x="759364" y="4412395"/>
            <a:ext cx="1021107" cy="880265"/>
          </a:xfrm>
          <a:custGeom>
            <a:rect b="b" l="l" r="r" t="t"/>
            <a:pathLst>
              <a:path extrusionOk="0" h="880265" w="1021107">
                <a:moveTo>
                  <a:pt x="0" y="0"/>
                </a:moveTo>
                <a:lnTo>
                  <a:pt x="1021107" y="0"/>
                </a:lnTo>
                <a:lnTo>
                  <a:pt x="1021107" y="880265"/>
                </a:lnTo>
                <a:lnTo>
                  <a:pt x="0" y="8802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78" name="Google Shape;378;p13"/>
          <p:cNvSpPr/>
          <p:nvPr/>
        </p:nvSpPr>
        <p:spPr>
          <a:xfrm>
            <a:off x="5985272" y="4461244"/>
            <a:ext cx="748973" cy="860888"/>
          </a:xfrm>
          <a:custGeom>
            <a:rect b="b" l="l" r="r" t="t"/>
            <a:pathLst>
              <a:path extrusionOk="0" h="860888" w="748973">
                <a:moveTo>
                  <a:pt x="0" y="0"/>
                </a:moveTo>
                <a:lnTo>
                  <a:pt x="748973" y="0"/>
                </a:lnTo>
                <a:lnTo>
                  <a:pt x="748973" y="860889"/>
                </a:lnTo>
                <a:lnTo>
                  <a:pt x="0" y="8608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79" name="Google Shape;379;p13"/>
          <p:cNvSpPr/>
          <p:nvPr/>
        </p:nvSpPr>
        <p:spPr>
          <a:xfrm>
            <a:off x="912573" y="6152135"/>
            <a:ext cx="680432" cy="607267"/>
          </a:xfrm>
          <a:custGeom>
            <a:rect b="b" l="l" r="r" t="t"/>
            <a:pathLst>
              <a:path extrusionOk="0" h="607267" w="680432">
                <a:moveTo>
                  <a:pt x="0" y="0"/>
                </a:moveTo>
                <a:lnTo>
                  <a:pt x="680432" y="0"/>
                </a:lnTo>
                <a:lnTo>
                  <a:pt x="680432" y="607267"/>
                </a:lnTo>
                <a:lnTo>
                  <a:pt x="0" y="60726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80" name="Google Shape;380;p13"/>
          <p:cNvSpPr/>
          <p:nvPr/>
        </p:nvSpPr>
        <p:spPr>
          <a:xfrm>
            <a:off x="5932374" y="6152135"/>
            <a:ext cx="801872" cy="817442"/>
          </a:xfrm>
          <a:custGeom>
            <a:rect b="b" l="l" r="r" t="t"/>
            <a:pathLst>
              <a:path extrusionOk="0" h="817442" w="801872">
                <a:moveTo>
                  <a:pt x="0" y="0"/>
                </a:moveTo>
                <a:lnTo>
                  <a:pt x="801871" y="0"/>
                </a:lnTo>
                <a:lnTo>
                  <a:pt x="801871" y="817442"/>
                </a:lnTo>
                <a:lnTo>
                  <a:pt x="0" y="8174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81" name="Google Shape;381;p13"/>
          <p:cNvSpPr/>
          <p:nvPr/>
        </p:nvSpPr>
        <p:spPr>
          <a:xfrm>
            <a:off x="856744" y="7728217"/>
            <a:ext cx="792091" cy="723213"/>
          </a:xfrm>
          <a:custGeom>
            <a:rect b="b" l="l" r="r" t="t"/>
            <a:pathLst>
              <a:path extrusionOk="0" h="723213" w="792091">
                <a:moveTo>
                  <a:pt x="0" y="0"/>
                </a:moveTo>
                <a:lnTo>
                  <a:pt x="792090" y="0"/>
                </a:lnTo>
                <a:lnTo>
                  <a:pt x="792090" y="723213"/>
                </a:lnTo>
                <a:lnTo>
                  <a:pt x="0" y="72321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82" name="Google Shape;382;p13"/>
          <p:cNvSpPr txBox="1"/>
          <p:nvPr/>
        </p:nvSpPr>
        <p:spPr>
          <a:xfrm>
            <a:off x="1028700" y="2114795"/>
            <a:ext cx="7235640" cy="15727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97" u="none" cap="none" strike="noStrike">
                <a:solidFill>
                  <a:srgbClr val="24497B"/>
                </a:solidFill>
                <a:latin typeface="Anton"/>
                <a:ea typeface="Anton"/>
                <a:cs typeface="Anton"/>
                <a:sym typeface="Anton"/>
              </a:rPr>
              <a:t>TECNOLOGÍAS DE DESARROLLO</a:t>
            </a:r>
            <a:endParaRPr/>
          </a:p>
        </p:txBody>
      </p:sp>
      <p:sp>
        <p:nvSpPr>
          <p:cNvPr id="383" name="Google Shape;383;p13"/>
          <p:cNvSpPr txBox="1"/>
          <p:nvPr/>
        </p:nvSpPr>
        <p:spPr>
          <a:xfrm>
            <a:off x="2341957" y="4448776"/>
            <a:ext cx="3146929" cy="885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99" u="none" cap="none" strike="noStrike">
                <a:solidFill>
                  <a:srgbClr val="24497B"/>
                </a:solidFill>
                <a:latin typeface="Anton"/>
                <a:ea typeface="Anton"/>
                <a:cs typeface="Anton"/>
                <a:sym typeface="Anton"/>
              </a:rPr>
              <a:t>Backend</a:t>
            </a:r>
            <a:endParaRPr/>
          </a:p>
          <a:p>
            <a:pPr indent="0" lvl="0" marL="0" marR="0" rtl="0" algn="l">
              <a:lnSpc>
                <a:spcPct val="12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99" u="none" cap="none" strike="noStrike">
                <a:solidFill>
                  <a:srgbClr val="24497B"/>
                </a:solidFill>
                <a:latin typeface="Anton"/>
                <a:ea typeface="Anton"/>
                <a:cs typeface="Anton"/>
                <a:sym typeface="Anton"/>
              </a:rPr>
              <a:t> Backend: Python 3.11+ · FastAPI · OpenAPI/Swagger</a:t>
            </a:r>
            <a:endParaRPr/>
          </a:p>
        </p:txBody>
      </p:sp>
      <p:sp>
        <p:nvSpPr>
          <p:cNvPr id="384" name="Google Shape;384;p13"/>
          <p:cNvSpPr txBox="1"/>
          <p:nvPr/>
        </p:nvSpPr>
        <p:spPr>
          <a:xfrm>
            <a:off x="2225980" y="6096601"/>
            <a:ext cx="3146929" cy="885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99" u="none" cap="none" strike="noStrike">
                <a:solidFill>
                  <a:srgbClr val="24497B"/>
                </a:solidFill>
                <a:latin typeface="Anton"/>
                <a:ea typeface="Anton"/>
                <a:cs typeface="Anton"/>
                <a:sym typeface="Anton"/>
              </a:rPr>
              <a:t>Base de Datos</a:t>
            </a:r>
            <a:endParaRPr/>
          </a:p>
          <a:p>
            <a:pPr indent="0" lvl="0" marL="0" marR="0" rtl="0" algn="l">
              <a:lnSpc>
                <a:spcPct val="12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99" u="none" cap="none" strike="noStrike">
                <a:solidFill>
                  <a:srgbClr val="24497B"/>
                </a:solidFill>
                <a:latin typeface="Anton"/>
                <a:ea typeface="Anton"/>
                <a:cs typeface="Anton"/>
                <a:sym typeface="Anton"/>
              </a:rPr>
              <a:t>PostgreSQL · Supabase · SQLAlchemy · Alembic</a:t>
            </a:r>
            <a:endParaRPr/>
          </a:p>
        </p:txBody>
      </p:sp>
      <p:sp>
        <p:nvSpPr>
          <p:cNvPr id="385" name="Google Shape;385;p13"/>
          <p:cNvSpPr txBox="1"/>
          <p:nvPr/>
        </p:nvSpPr>
        <p:spPr>
          <a:xfrm>
            <a:off x="2110003" y="7744426"/>
            <a:ext cx="3146929" cy="885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99" u="none" cap="none" strike="noStrike">
                <a:solidFill>
                  <a:srgbClr val="24497B"/>
                </a:solidFill>
                <a:latin typeface="Anton"/>
                <a:ea typeface="Anton"/>
                <a:cs typeface="Anton"/>
                <a:sym typeface="Anton"/>
              </a:rPr>
              <a:t>Frontend Web </a:t>
            </a:r>
            <a:endParaRPr/>
          </a:p>
          <a:p>
            <a:pPr indent="0" lvl="0" marL="0" marR="0" rtl="0" algn="l">
              <a:lnSpc>
                <a:spcPct val="12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99" u="none" cap="none" strike="noStrike">
                <a:solidFill>
                  <a:srgbClr val="24497B"/>
                </a:solidFill>
                <a:latin typeface="Anton"/>
                <a:ea typeface="Anton"/>
                <a:cs typeface="Anton"/>
                <a:sym typeface="Anton"/>
              </a:rPr>
              <a:t>React JS</a:t>
            </a:r>
            <a:endParaRPr/>
          </a:p>
          <a:p>
            <a:pPr indent="0" lvl="0" marL="0" marR="0" rtl="0" algn="l">
              <a:lnSpc>
                <a:spcPct val="12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99" u="none" cap="none" strike="noStrike">
              <a:solidFill>
                <a:srgbClr val="24497B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386" name="Google Shape;386;p13"/>
          <p:cNvSpPr txBox="1"/>
          <p:nvPr/>
        </p:nvSpPr>
        <p:spPr>
          <a:xfrm>
            <a:off x="7190003" y="4508394"/>
            <a:ext cx="3146929" cy="11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99" u="none" cap="none" strike="noStrike">
                <a:solidFill>
                  <a:srgbClr val="24497B"/>
                </a:solidFill>
                <a:latin typeface="Anton"/>
                <a:ea typeface="Anton"/>
                <a:cs typeface="Anton"/>
                <a:sym typeface="Anton"/>
              </a:rPr>
              <a:t>Aplicación Móvil</a:t>
            </a:r>
            <a:endParaRPr/>
          </a:p>
          <a:p>
            <a:pPr indent="0" lvl="0" marL="0" marR="0" rtl="0" algn="l">
              <a:lnSpc>
                <a:spcPct val="12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99" u="none" cap="none" strike="noStrike">
                <a:solidFill>
                  <a:srgbClr val="24497B"/>
                </a:solidFill>
                <a:latin typeface="Anton"/>
                <a:ea typeface="Anton"/>
                <a:cs typeface="Anton"/>
                <a:sym typeface="Anton"/>
              </a:rPr>
              <a:t>React Native · Expo · iOS · Android</a:t>
            </a:r>
            <a:endParaRPr/>
          </a:p>
          <a:p>
            <a:pPr indent="0" lvl="0" marL="0" marR="0" rtl="0" algn="l">
              <a:lnSpc>
                <a:spcPct val="12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99" u="none" cap="none" strike="noStrike">
              <a:solidFill>
                <a:srgbClr val="24497B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387" name="Google Shape;387;p13"/>
          <p:cNvSpPr txBox="1"/>
          <p:nvPr/>
        </p:nvSpPr>
        <p:spPr>
          <a:xfrm>
            <a:off x="7101490" y="6202647"/>
            <a:ext cx="3146929" cy="885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99" u="none" cap="none" strike="noStrike">
                <a:solidFill>
                  <a:srgbClr val="24497B"/>
                </a:solidFill>
                <a:latin typeface="Anton"/>
                <a:ea typeface="Anton"/>
                <a:cs typeface="Anton"/>
                <a:sym typeface="Anton"/>
              </a:rPr>
              <a:t> Servicios Integrados</a:t>
            </a:r>
            <a:endParaRPr/>
          </a:p>
          <a:p>
            <a:pPr indent="0" lvl="0" marL="0" marR="0" rtl="0" algn="l">
              <a:lnSpc>
                <a:spcPct val="12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99" u="none" cap="none" strike="noStrike">
                <a:solidFill>
                  <a:srgbClr val="24497B"/>
                </a:solidFill>
                <a:latin typeface="Anton"/>
                <a:ea typeface="Anton"/>
                <a:cs typeface="Anton"/>
                <a:sym typeface="Anton"/>
              </a:rPr>
              <a:t>MercadoPago · Expo Push API · Zoho Mail (SMTP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4497B"/>
        </a:solidFill>
      </p:bgPr>
    </p:bg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2" name="Google Shape;392;p14"/>
          <p:cNvCxnSpPr/>
          <p:nvPr/>
        </p:nvCxnSpPr>
        <p:spPr>
          <a:xfrm flipH="1" rot="10800000">
            <a:off x="11783656" y="1624775"/>
            <a:ext cx="19050" cy="7633478"/>
          </a:xfrm>
          <a:prstGeom prst="straightConnector1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lg" w="lg" type="oval"/>
            <a:tailEnd len="lg" w="lg" type="oval"/>
          </a:ln>
        </p:spPr>
      </p:cxnSp>
      <p:grpSp>
        <p:nvGrpSpPr>
          <p:cNvPr id="393" name="Google Shape;393;p14"/>
          <p:cNvGrpSpPr/>
          <p:nvPr/>
        </p:nvGrpSpPr>
        <p:grpSpPr>
          <a:xfrm>
            <a:off x="11132839" y="2221635"/>
            <a:ext cx="1301634" cy="1301634"/>
            <a:chOff x="0" y="0"/>
            <a:chExt cx="812800" cy="812800"/>
          </a:xfrm>
        </p:grpSpPr>
        <p:sp>
          <p:nvSpPr>
            <p:cNvPr id="394" name="Google Shape;394;p1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1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6" name="Google Shape;396;p14"/>
          <p:cNvGrpSpPr/>
          <p:nvPr/>
        </p:nvGrpSpPr>
        <p:grpSpPr>
          <a:xfrm>
            <a:off x="11132839" y="4344892"/>
            <a:ext cx="1301634" cy="1301634"/>
            <a:chOff x="0" y="0"/>
            <a:chExt cx="812800" cy="812800"/>
          </a:xfrm>
        </p:grpSpPr>
        <p:sp>
          <p:nvSpPr>
            <p:cNvPr id="397" name="Google Shape;397;p1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" name="Google Shape;398;p1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9" name="Google Shape;399;p14"/>
          <p:cNvGrpSpPr/>
          <p:nvPr/>
        </p:nvGrpSpPr>
        <p:grpSpPr>
          <a:xfrm>
            <a:off x="11132839" y="6473581"/>
            <a:ext cx="1301634" cy="1301634"/>
            <a:chOff x="0" y="0"/>
            <a:chExt cx="812800" cy="812800"/>
          </a:xfrm>
        </p:grpSpPr>
        <p:sp>
          <p:nvSpPr>
            <p:cNvPr id="400" name="Google Shape;400;p1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1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02" name="Google Shape;402;p14"/>
          <p:cNvSpPr/>
          <p:nvPr/>
        </p:nvSpPr>
        <p:spPr>
          <a:xfrm>
            <a:off x="1213798" y="2795717"/>
            <a:ext cx="7627178" cy="7627178"/>
          </a:xfrm>
          <a:custGeom>
            <a:rect b="b" l="l" r="r" t="t"/>
            <a:pathLst>
              <a:path extrusionOk="0" h="7627178" w="7627178">
                <a:moveTo>
                  <a:pt x="0" y="0"/>
                </a:moveTo>
                <a:lnTo>
                  <a:pt x="7627177" y="0"/>
                </a:lnTo>
                <a:lnTo>
                  <a:pt x="7627177" y="7627177"/>
                </a:lnTo>
                <a:lnTo>
                  <a:pt x="0" y="76271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03" name="Google Shape;403;p14"/>
          <p:cNvSpPr txBox="1"/>
          <p:nvPr/>
        </p:nvSpPr>
        <p:spPr>
          <a:xfrm>
            <a:off x="1028700" y="2471000"/>
            <a:ext cx="9044934" cy="1933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604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CONCLUSIÓN</a:t>
            </a:r>
            <a:endParaRPr/>
          </a:p>
        </p:txBody>
      </p:sp>
      <p:sp>
        <p:nvSpPr>
          <p:cNvPr id="404" name="Google Shape;404;p14"/>
          <p:cNvSpPr txBox="1"/>
          <p:nvPr/>
        </p:nvSpPr>
        <p:spPr>
          <a:xfrm>
            <a:off x="12713850" y="2314728"/>
            <a:ext cx="3510060" cy="355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64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Solución integral</a:t>
            </a:r>
            <a:endParaRPr/>
          </a:p>
        </p:txBody>
      </p:sp>
      <p:sp>
        <p:nvSpPr>
          <p:cNvPr id="405" name="Google Shape;405;p14"/>
          <p:cNvSpPr txBox="1"/>
          <p:nvPr/>
        </p:nvSpPr>
        <p:spPr>
          <a:xfrm>
            <a:off x="12713850" y="2835058"/>
            <a:ext cx="3885699" cy="14063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7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NovaFit centraliza y moderniza la gestión operativa, deportiva y financiera mediante una arquitectura Cloud-Native.</a:t>
            </a:r>
            <a:endParaRPr/>
          </a:p>
        </p:txBody>
      </p:sp>
      <p:sp>
        <p:nvSpPr>
          <p:cNvPr id="406" name="Google Shape;406;p14"/>
          <p:cNvSpPr txBox="1"/>
          <p:nvPr/>
        </p:nvSpPr>
        <p:spPr>
          <a:xfrm>
            <a:off x="11277485" y="2544744"/>
            <a:ext cx="1012342" cy="5876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431" u="none" cap="none" strike="noStrike">
                <a:solidFill>
                  <a:srgbClr val="24497B"/>
                </a:solidFill>
                <a:latin typeface="Anton"/>
                <a:ea typeface="Anton"/>
                <a:cs typeface="Anton"/>
                <a:sym typeface="Anton"/>
              </a:rPr>
              <a:t>01</a:t>
            </a:r>
            <a:endParaRPr/>
          </a:p>
        </p:txBody>
      </p:sp>
      <p:sp>
        <p:nvSpPr>
          <p:cNvPr id="407" name="Google Shape;407;p14"/>
          <p:cNvSpPr txBox="1"/>
          <p:nvPr/>
        </p:nvSpPr>
        <p:spPr>
          <a:xfrm>
            <a:off x="12713850" y="4684068"/>
            <a:ext cx="3510060" cy="355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64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Impacto deportivo</a:t>
            </a:r>
            <a:endParaRPr/>
          </a:p>
        </p:txBody>
      </p:sp>
      <p:sp>
        <p:nvSpPr>
          <p:cNvPr id="408" name="Google Shape;408;p14"/>
          <p:cNvSpPr txBox="1"/>
          <p:nvPr/>
        </p:nvSpPr>
        <p:spPr>
          <a:xfrm>
            <a:off x="12713850" y="5204399"/>
            <a:ext cx="3885600" cy="11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7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E</a:t>
            </a:r>
            <a:r>
              <a:rPr b="0" i="0" lang="en-US" sz="2007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l motor ACWR permite monitorear la carga de entrenamiento y contribuir a la prevención de lesiones.</a:t>
            </a:r>
            <a:endParaRPr/>
          </a:p>
        </p:txBody>
      </p:sp>
      <p:sp>
        <p:nvSpPr>
          <p:cNvPr id="409" name="Google Shape;409;p14"/>
          <p:cNvSpPr txBox="1"/>
          <p:nvPr/>
        </p:nvSpPr>
        <p:spPr>
          <a:xfrm>
            <a:off x="11277485" y="4668000"/>
            <a:ext cx="1012342" cy="5876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431" u="none" cap="none" strike="noStrike">
                <a:solidFill>
                  <a:srgbClr val="24497B"/>
                </a:solidFill>
                <a:latin typeface="Anton"/>
                <a:ea typeface="Anton"/>
                <a:cs typeface="Anton"/>
                <a:sym typeface="Anton"/>
              </a:rPr>
              <a:t>02</a:t>
            </a:r>
            <a:endParaRPr/>
          </a:p>
        </p:txBody>
      </p:sp>
      <p:sp>
        <p:nvSpPr>
          <p:cNvPr id="410" name="Google Shape;410;p14"/>
          <p:cNvSpPr txBox="1"/>
          <p:nvPr/>
        </p:nvSpPr>
        <p:spPr>
          <a:xfrm>
            <a:off x="12713850" y="6812805"/>
            <a:ext cx="3510060" cy="355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64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 Impacto administrativo</a:t>
            </a:r>
            <a:endParaRPr/>
          </a:p>
        </p:txBody>
      </p:sp>
      <p:sp>
        <p:nvSpPr>
          <p:cNvPr id="411" name="Google Shape;411;p14"/>
          <p:cNvSpPr txBox="1"/>
          <p:nvPr/>
        </p:nvSpPr>
        <p:spPr>
          <a:xfrm>
            <a:off x="12713850" y="7333135"/>
            <a:ext cx="3885699" cy="1053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7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Membership Guard automatiza la gestión de morosidad y reduce la carga administrativa.</a:t>
            </a:r>
            <a:endParaRPr/>
          </a:p>
        </p:txBody>
      </p:sp>
      <p:sp>
        <p:nvSpPr>
          <p:cNvPr id="412" name="Google Shape;412;p14"/>
          <p:cNvSpPr txBox="1"/>
          <p:nvPr/>
        </p:nvSpPr>
        <p:spPr>
          <a:xfrm>
            <a:off x="11277485" y="6796689"/>
            <a:ext cx="1012342" cy="5876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431" u="none" cap="none" strike="noStrike">
                <a:solidFill>
                  <a:srgbClr val="24497B"/>
                </a:solidFill>
                <a:latin typeface="Anton"/>
                <a:ea typeface="Anton"/>
                <a:cs typeface="Anton"/>
                <a:sym typeface="Anton"/>
              </a:rPr>
              <a:t>03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