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2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94f1ff4d6441d" /><Relationship Type="http://schemas.openxmlformats.org/officeDocument/2006/relationships/extended-properties" Target="/docProps/app.xml" Id="R7a5e7c77307c4983" /><Relationship Type="http://schemas.openxmlformats.org/officeDocument/2006/relationships/officeDocument" Target="/ppt/presentation.xml" Id="Rf14b2a1467e446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2eaf88b1d3481c"/>
  </p:sldMasterIdLst>
  <p:notesMasterIdLst>
    <p:notesMasterId xmlns:r="http://schemas.openxmlformats.org/officeDocument/2006/relationships" r:id="Rad480120d16c4a96"/>
  </p:notesMasterIdLst>
  <p:sldIdLst>
    <p:sldId xmlns:r="http://schemas.openxmlformats.org/officeDocument/2006/relationships" id="256" r:id="R4fd5508e197a476b"/>
    <p:sldId xmlns:r="http://schemas.openxmlformats.org/officeDocument/2006/relationships" id="257" r:id="R6a91a58d9a8d41ef"/>
    <p:sldId xmlns:r="http://schemas.openxmlformats.org/officeDocument/2006/relationships" id="258" r:id="Rcebac12da9b74dbb"/>
    <p:sldId xmlns:r="http://schemas.openxmlformats.org/officeDocument/2006/relationships" id="259" r:id="Raca9cfe775074904"/>
    <p:sldId xmlns:r="http://schemas.openxmlformats.org/officeDocument/2006/relationships" id="260" r:id="R6719596cc6064f69"/>
    <p:sldId xmlns:r="http://schemas.openxmlformats.org/officeDocument/2006/relationships" id="261" r:id="R30469cb185af4183"/>
    <p:sldId xmlns:r="http://schemas.openxmlformats.org/officeDocument/2006/relationships" id="262" r:id="R59ebc8e642624d1b"/>
    <p:sldId xmlns:r="http://schemas.openxmlformats.org/officeDocument/2006/relationships" id="263" r:id="R22b57dbb5e04498d"/>
    <p:sldId xmlns:r="http://schemas.openxmlformats.org/officeDocument/2006/relationships" id="264" r:id="Re31752ab52124f46"/>
    <p:sldId xmlns:r="http://schemas.openxmlformats.org/officeDocument/2006/relationships" id="265" r:id="R4da18796f00345a3"/>
    <p:sldId xmlns:r="http://schemas.openxmlformats.org/officeDocument/2006/relationships" id="266" r:id="Rf6589da1dfb4451a"/>
    <p:sldId xmlns:r="http://schemas.openxmlformats.org/officeDocument/2006/relationships" id="267" r:id="R95d3696b7a9e46cb"/>
    <p:sldId xmlns:r="http://schemas.openxmlformats.org/officeDocument/2006/relationships" id="268" r:id="R69f81d59bb2049cc"/>
    <p:sldId xmlns:r="http://schemas.openxmlformats.org/officeDocument/2006/relationships" id="269" r:id="R04d77243db8d4bfd"/>
    <p:sldId xmlns:r="http://schemas.openxmlformats.org/officeDocument/2006/relationships" id="270" r:id="Rea304c1719aa4ced"/>
    <p:sldId xmlns:r="http://schemas.openxmlformats.org/officeDocument/2006/relationships" id="271" r:id="R6507974bee574d8c"/>
    <p:sldId xmlns:r="http://schemas.openxmlformats.org/officeDocument/2006/relationships" id="272" r:id="R2bbfadad5d114ac4"/>
    <p:sldId xmlns:r="http://schemas.openxmlformats.org/officeDocument/2006/relationships" id="273" r:id="R6915b65c7c56403c"/>
    <p:sldId xmlns:r="http://schemas.openxmlformats.org/officeDocument/2006/relationships" id="274" r:id="R7ae003946da24830"/>
    <p:sldId xmlns:r="http://schemas.openxmlformats.org/officeDocument/2006/relationships" id="275" r:id="Re35efb5b3a8f42bc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685fea6611479e" /><Relationship Type="http://schemas.openxmlformats.org/officeDocument/2006/relationships/slideMaster" Target="/ppt/slideMasters/slideMaster1.xml" Id="R0b2eaf88b1d3481c" /><Relationship Type="http://schemas.openxmlformats.org/officeDocument/2006/relationships/notesMaster" Target="/ppt/notesMasters/notesMaster1.xml" Id="Rad480120d16c4a96" /><Relationship Type="http://schemas.openxmlformats.org/officeDocument/2006/relationships/presProps" Target="/ppt/presProps.xml" Id="Reb6410449ad34058" /><Relationship Type="http://schemas.openxmlformats.org/officeDocument/2006/relationships/tableStyles" Target="/ppt/tableStyles.xml" Id="Rf50a6819ce70431c" /><Relationship Type="http://schemas.openxmlformats.org/officeDocument/2006/relationships/slide" Target="/ppt/slides/slide1.xml" Id="R4fd5508e197a476b" /><Relationship Type="http://schemas.openxmlformats.org/officeDocument/2006/relationships/slide" Target="/ppt/slides/slide2.xml" Id="R6a91a58d9a8d41ef" /><Relationship Type="http://schemas.openxmlformats.org/officeDocument/2006/relationships/slide" Target="/ppt/slides/slide3.xml" Id="Rcebac12da9b74dbb" /><Relationship Type="http://schemas.openxmlformats.org/officeDocument/2006/relationships/slide" Target="/ppt/slides/slide4.xml" Id="Raca9cfe775074904" /><Relationship Type="http://schemas.openxmlformats.org/officeDocument/2006/relationships/slide" Target="/ppt/slides/slide5.xml" Id="R6719596cc6064f69" /><Relationship Type="http://schemas.openxmlformats.org/officeDocument/2006/relationships/slide" Target="/ppt/slides/slide6.xml" Id="R30469cb185af4183" /><Relationship Type="http://schemas.openxmlformats.org/officeDocument/2006/relationships/slide" Target="/ppt/slides/slide7.xml" Id="R59ebc8e642624d1b" /><Relationship Type="http://schemas.openxmlformats.org/officeDocument/2006/relationships/slide" Target="/ppt/slides/slide8.xml" Id="R22b57dbb5e04498d" /><Relationship Type="http://schemas.openxmlformats.org/officeDocument/2006/relationships/slide" Target="/ppt/slides/slide9.xml" Id="Re31752ab52124f46" /><Relationship Type="http://schemas.openxmlformats.org/officeDocument/2006/relationships/slide" Target="/ppt/slides/slide10.xml" Id="R4da18796f00345a3" /><Relationship Type="http://schemas.openxmlformats.org/officeDocument/2006/relationships/slide" Target="/ppt/slides/slide11.xml" Id="Rf6589da1dfb4451a" /><Relationship Type="http://schemas.openxmlformats.org/officeDocument/2006/relationships/slide" Target="/ppt/slides/slide12.xml" Id="R95d3696b7a9e46cb" /><Relationship Type="http://schemas.openxmlformats.org/officeDocument/2006/relationships/slide" Target="/ppt/slides/slide13.xml" Id="R69f81d59bb2049cc" /><Relationship Type="http://schemas.openxmlformats.org/officeDocument/2006/relationships/slide" Target="/ppt/slides/slide14.xml" Id="R04d77243db8d4bfd" /><Relationship Type="http://schemas.openxmlformats.org/officeDocument/2006/relationships/slide" Target="/ppt/slides/slide15.xml" Id="Rea304c1719aa4ced" /><Relationship Type="http://schemas.openxmlformats.org/officeDocument/2006/relationships/slide" Target="/ppt/slides/slide16.xml" Id="R6507974bee574d8c" /><Relationship Type="http://schemas.openxmlformats.org/officeDocument/2006/relationships/slide" Target="/ppt/slides/slide17.xml" Id="R2bbfadad5d114ac4" /><Relationship Type="http://schemas.openxmlformats.org/officeDocument/2006/relationships/slide" Target="/ppt/slides/slide18.xml" Id="R6915b65c7c56403c" /><Relationship Type="http://schemas.openxmlformats.org/officeDocument/2006/relationships/slide" Target="/ppt/slides/slide19.xml" Id="R7ae003946da24830" /><Relationship Type="http://schemas.openxmlformats.org/officeDocument/2006/relationships/slide" Target="/ppt/slides/slide20.xml" Id="Re35efb5b3a8f42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07e2eaac094d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856e4e7920426a" /><Relationship Type="http://schemas.openxmlformats.org/officeDocument/2006/relationships/notesMaster" Target="/ppt/notesMasters/notesMaster1.xml" Id="R1478bb80a90940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983d6d4ece429b" /><Relationship Type="http://schemas.openxmlformats.org/officeDocument/2006/relationships/notesMaster" Target="/ppt/notesMasters/notesMaster1.xml" Id="Re429b2dbeac646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f65808aec34e02" /><Relationship Type="http://schemas.openxmlformats.org/officeDocument/2006/relationships/notesMaster" Target="/ppt/notesMasters/notesMaster1.xml" Id="R403a0788a7eb41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3a7119e59a413b" /><Relationship Type="http://schemas.openxmlformats.org/officeDocument/2006/relationships/notesMaster" Target="/ppt/notesMasters/notesMaster1.xml" Id="Rbeb9086554cf41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0e27bc084e4262" /><Relationship Type="http://schemas.openxmlformats.org/officeDocument/2006/relationships/notesMaster" Target="/ppt/notesMasters/notesMaster1.xml" Id="Rd757a0ad716a4a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60ee0c6b77493c" /><Relationship Type="http://schemas.openxmlformats.org/officeDocument/2006/relationships/notesMaster" Target="/ppt/notesMasters/notesMaster1.xml" Id="R6c738b97ea8e4d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4988885d194c45" /><Relationship Type="http://schemas.openxmlformats.org/officeDocument/2006/relationships/notesMaster" Target="/ppt/notesMasters/notesMaster1.xml" Id="R31febbc88e5845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4200097b3f4f5f" /><Relationship Type="http://schemas.openxmlformats.org/officeDocument/2006/relationships/notesMaster" Target="/ppt/notesMasters/notesMaster1.xml" Id="R1f184f2a6ba84b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0ecc41485d4502" /><Relationship Type="http://schemas.openxmlformats.org/officeDocument/2006/relationships/notesMaster" Target="/ppt/notesMasters/notesMaster1.xml" Id="R771b2dced11746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df403d3a854059" /><Relationship Type="http://schemas.openxmlformats.org/officeDocument/2006/relationships/notesMaster" Target="/ppt/notesMasters/notesMaster1.xml" Id="R6fdd96fdc61f42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b35c658dee4d6f" /><Relationship Type="http://schemas.openxmlformats.org/officeDocument/2006/relationships/notesMaster" Target="/ppt/notesMasters/notesMaster1.xml" Id="Re8048a8df01144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5f071d64e342c0" /><Relationship Type="http://schemas.openxmlformats.org/officeDocument/2006/relationships/notesMaster" Target="/ppt/notesMasters/notesMaster1.xml" Id="Rd71d563e14b546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b7369d670d4802" /><Relationship Type="http://schemas.openxmlformats.org/officeDocument/2006/relationships/notesMaster" Target="/ppt/notesMasters/notesMaster1.xml" Id="R86f756e18e664e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0c42abd09c425d" /><Relationship Type="http://schemas.openxmlformats.org/officeDocument/2006/relationships/notesMaster" Target="/ppt/notesMasters/notesMaster1.xml" Id="R3e5c1d99487341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3bdf52e7ea40ff" /><Relationship Type="http://schemas.openxmlformats.org/officeDocument/2006/relationships/notesMaster" Target="/ppt/notesMasters/notesMaster1.xml" Id="R6cdfec3d31c04f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ce45b10ecf4c1c" /><Relationship Type="http://schemas.openxmlformats.org/officeDocument/2006/relationships/notesMaster" Target="/ppt/notesMasters/notesMaster1.xml" Id="R7bfe6658232244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b034dc427f4026" /><Relationship Type="http://schemas.openxmlformats.org/officeDocument/2006/relationships/notesMaster" Target="/ppt/notesMasters/notesMaster1.xml" Id="R70a3c73b0e224b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d246d6f9394642" /><Relationship Type="http://schemas.openxmlformats.org/officeDocument/2006/relationships/notesMaster" Target="/ppt/notesMasters/notesMaster1.xml" Id="Rc0da58b05ed44cc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9d33a5f00b4408" /><Relationship Type="http://schemas.openxmlformats.org/officeDocument/2006/relationships/notesMaster" Target="/ppt/notesMasters/notesMaster1.xml" Id="Rb631f3e83c0c4e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bdd1a84647a4c69" /><Relationship Type="http://schemas.openxmlformats.org/officeDocument/2006/relationships/notesMaster" Target="/ppt/notesMasters/notesMaster1.xml" Id="R46052bfef29e4e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Presentación original, página 1. Base: ignvcio404/NovaFit-Analytics, commit d86a6b6a0836335a0be06f9d2cd37d24383551bc.</a:t>
            </a:r>
          </a:p>
          <a:p xmlns:a="http://schemas.openxmlformats.org/drawingml/2006/main">
            <a:r>
              <a:t>Apertura, 30 segundos. Presentar el problema y anunciar el recorrido: solución, evidencia y viabilidad.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DAS, §1; Procesos de Negocio, AS-IS. Base: ignvcio404/NovaFit-Analytics, commit d86a6b6a0836335a0be06f9d2cd37d24383551bc.</a:t>
            </a:r>
          </a:p>
          <a:p xmlns:a="http://schemas.openxmlformats.org/drawingml/2006/main">
            <a:r>
              <a:t>45 segundos. Relacionar cada problema con una operación del gimnasio. Las descripciones AS-IS son contexto del proyecto, no un estudio cuantitativo de tiempos.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DAS corregido, §1; Alcance_y_Flujo_de_Caja, §1. Base: ignvcio404/NovaFit-Analytics, commit d86a6b6a0836335a0be06f9d2cd37d24383551bc.</a:t>
            </a:r>
          </a:p>
          <a:p xmlns:a="http://schemas.openxmlformats.org/drawingml/2006/main">
            <a:r>
              <a:t>45 segundos. Distinguir alcance funcional de aceptación. No prometer integraciones ni resultados clínicos fuera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Matriz_RACI_corregida.xlsx. Base: ignvcio404/NovaFit-Analytics, commit d86a6b6a0836335a0be06f9d2cd37d24383551bc.</a:t>
            </a:r>
          </a:p>
          <a:p xmlns:a="http://schemas.openxmlformats.org/drawingml/2006/main">
            <a:r>
              <a:t>30 segundos. La RACI asigna tareas y aprobación, pero no acredita ejecución por sí sola.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Procesos_Negocio_corregido, §3–4. Base: ignvcio404/NovaFit-Analytics, commit d86a6b6a0836335a0be06f9d2cd37d24383551bc.</a:t>
            </a:r>
          </a:p>
          <a:p xmlns:a="http://schemas.openxmlformats.org/drawingml/2006/main">
            <a:r>
              <a:t>45 segundos. Narrar un caso: el entrenador asigna, el atleta registra y el entrenador revisa. El flujo es una explicación funcional, no una prueba ejecutada.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Procesos_Negocio_corregido, §2; backend/app/integrations/mercadopago/webhook_router.py. Base: ignvcio404/NovaFit-Analytics, commit d86a6b6a0836335a0be06f9d2cd37d24383551bc.</a:t>
            </a:r>
          </a:p>
          <a:p xmlns:a="http://schemas.openxmlformats.org/drawingml/2006/main">
            <a:r>
              <a:t>60 segundos. Recorrer caso de pago válido y excepción. El código actual permite continuar en una rama sin firma completa. Debe corregirse y probarse antes de certificar seguridad.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DAS corregido, §4; backend/app/analytics/fatigue_service.py. Base: ignvcio404/NovaFit-Analytics, commit d86a6b6a0836335a0be06f9d2cd37d24383551bc.</a:t>
            </a:r>
          </a:p>
          <a:p xmlns:a="http://schemas.openxmlformats.org/drawingml/2006/main">
            <a:r>
              <a:t>60 segundos. Ejemplo didáctico, no datos de un atleta. En 28 días: 28000 kg·repeticiones, promedio semanal 7000. Volumen de 7 días 7000, ratio 1. El RPE se usa separadamente en el puntaje compuesto. Menos de 7 días: inicialización; entre 7 y 28: ajustar semanas; denominador cero: ratio no disponible.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DAS corregido, §3. Base: ignvcio404/NovaFit-Analytics, commit d86a6b6a0836335a0be06f9d2cd37d24383551bc.</a:t>
            </a:r>
          </a:p>
          <a:p xmlns:a="http://schemas.openxmlformats.org/drawingml/2006/main">
            <a:r>
              <a:t>45 segundos. Mantener la numeración CU-001 a CU-012 del DAS. Los casos son alcance; la cobertura ejecutada se documenta por separado.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schema.sql; Diccionario_Datos_corregido.docx. Base: ignvcio404/NovaFit-Analytics, commit d86a6b6a0836335a0be06f9d2cd37d24383551bc.</a:t>
            </a:r>
          </a:p>
          <a:p xmlns:a="http://schemas.openxmlformats.org/drawingml/2006/main">
            <a:r>
              <a:t>45 segundos. 32 tablas de negocio más alembic_version. El conteo describe el snapshot, no una comprobación de producción.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schema.sql; Diccionario_Datos_corregido, users/memberships/invoices/transactions. Base: ignvcio404/NovaFit-Analytics, commit d86a6b6a0836335a0be06f9d2cd37d24383551bc.</a:t>
            </a:r>
          </a:p>
          <a:p xmlns:a="http://schemas.openxmlformats.org/drawingml/2006/main">
            <a:r>
              <a:t>45 segundos. Mostrar campos reales. Los roles se vinculan mediante user_roles, no users.role_id. Las acciones de borrado se verifican en el DDL efectivo.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DAS corregido, §6–7; lockfiles y Dockerfile del ZIP. Base: ignvcio404/NovaFit-Analytics, commit d86a6b6a0836335a0be06f9d2cd37d24383551bc.</a:t>
            </a:r>
          </a:p>
          <a:p xmlns:a="http://schemas.openxmlformats.org/drawingml/2006/main">
            <a:r>
              <a:t>60 segundos. Única diapositiva del stack. API modular de tres capas y vistas 4+1. Las versiones provienen de archivos; PostgreSQL de producción y dependencias Python requieren comprobación.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DAS corregido, §2; Plan_Pruebas_y_Evidencias.xlsx. Base: ignvcio404/NovaFit-Analytics, commit d86a6b6a0836335a0be06f9d2cd37d24383551bc.</a:t>
            </a:r>
          </a:p>
          <a:p xmlns:a="http://schemas.openxmlformats.org/drawingml/2006/main">
            <a:r>
              <a:t>45 segundos. Son metas, no resultados. Definir carga, percentiles, muestras y entorno. ESC-01 plantea un objetivo más estricto que debe ensayarse con sus condiciones.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Acta Fase 1; minutas APT-04/05/06; cierre Fase 2. Base: ignvcio404/NovaFit-Analytics, commit d86a6b6a0836335a0be06f9d2cd37d24383551bc.</a:t>
            </a:r>
          </a:p>
          <a:p xmlns:a="http://schemas.openxmlformats.org/drawingml/2006/main">
            <a:r>
              <a:t>45 segundos. Fase 1 comenzó con planificación desde agosto. Fechas de Fase 3 son planificación del Acta, no hitos cumplidos. Cinco etapas de costos ERS no equivalen a cinco fases académicas.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Plan_Pruebas_y_Evidencias.xlsx; matrices corregidas. Base: ignvcio404/NovaFit-Analytics, commit d86a6b6a0836335a0be06f9d2cd37d24383551bc.</a:t>
            </a:r>
          </a:p>
          <a:p xmlns:a="http://schemas.openxmlformats.org/drawingml/2006/main">
            <a:r>
              <a:t>60 segundos. Evitar 16/16 y 100% mitigado. Explicar qué existe y qué debe adjuntarse para que la defensa sea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Acta de Constitución; Informe ERS; Flujo_de_Caja_NovaFit.xlsx. Base: ignvcio404/NovaFit-Analytics, commit d86a6b6a0836335a0be06f9d2cd37d24383551bc.</a:t>
            </a:r>
          </a:p>
          <a:p xmlns:a="http://schemas.openxmlformats.org/drawingml/2006/main">
            <a:r>
              <a:t>60 segundos. Cuatro meses son hipótesis de conciliación, no plazo aprobado. Hosting no es 15000 anual. Las cuentas dependen del canal de publicación. Cifras históricas del Acta, sujetas a cotización.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Alcance_y_Flujo_de_Caja, §3; Excel Supuestos B8:B11. Base: ignvcio404/NovaFit-Analytics, commit d86a6b6a0836335a0be06f9d2cd37d24383551bc.</a:t>
            </a:r>
          </a:p>
          <a:p xmlns:a="http://schemas.openxmlformats.org/drawingml/2006/main">
            <a:r>
              <a:t>45 segundos. Tarifa ilustrativa por acordar, no cotización aceptada. Incluye hosting, sin duplicar cargo al cliente. Costos internos: 4h a 25000 y hosting45000.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Flujo_de_Caja_NovaFit.xlsx, Flujo de caja N11/N18/N20. Base: ignvcio404/NovaFit-Analytics, commit d86a6b6a0836335a0be06f9d2cd37d24383551bc.</a:t>
            </a:r>
          </a:p>
          <a:p xmlns:a="http://schemas.openxmlformats.org/drawingml/2006/main">
            <a:r>
              <a:t>60 segundos. Perspectiva proveedor, horizonte12meses. No incluir membresías del gimnasio como ingreso. Antes de impuestos, comisiones del contrato, contingencia y financiación. La caja negra se complementa con el detalle mensual abierto en Excel.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Flujo_de_Caja_NovaFit.xlsx, Flujo de caja B21:M21/B24. Base: ignvcio404/NovaFit-Analytics, commit d86a6b6a0836335a0be06f9d2cd37d24383551bc.</a:t>
            </a:r>
          </a:p>
          <a:p xmlns:a="http://schemas.openxmlformats.org/drawingml/2006/main">
            <a:r>
              <a:t>60 segundos. Caja inicial cero. Cobros30%M1,40%M3,30%M4. El déficit de271250 es financiación mínima sin colchón, bajo estos supuestos. No es pérdida contable. Cambiar fechas modifica necesidad de caja.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Acta de Constitución; Procesos_Negocio_corregido, §5. Base: ignvcio404/NovaFit-Analytics, commit d86a6b6a0836335a0be06f9d2cd37d24383551bc.</a:t>
            </a:r>
          </a:p>
          <a:p xmlns:a="http://schemas.openxmlformats.org/drawingml/2006/main">
            <a:r>
              <a:t>45 segundos. Metas históricas, no logros. La reducción de abandono es relativa. No presentar ahorro como ingreso del proveedor ni prevención clínica como resultado medido.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URL del PDF original; Plan_Pruebas_y_Evidencias.xlsx. Base: ignvcio404/NovaFit-Analytics, commit d86a6b6a0836335a0be06f9d2cd37d24383551bc.</a:t>
            </a:r>
          </a:p>
          <a:p xmlns:a="http://schemas.openxmlformats.org/drawingml/2006/main">
            <a:r>
              <a:t>Cierre de45segundos más demo de3minutos. Usar cuenta y datos de prueba. Recorrido: acceso, factura sandbox, rutina, series, indicador. Si falta conectividad, reproducir video y aclarar su fecha. No exponer datos reales de atletas ni efectuar cobros reales durante la defensa.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8eac6bc3044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9f2e6b0ad4d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e16f1de13446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504a05b9a4c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4376496fd4b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d483292344a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1ABD0D-B8EB-4DAD-A702-12B3DE82C3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29146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614137-D2AD-40A6-899A-F26F937A70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4243388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6B2AA8-A0D5-4ACD-AE09-70D654AF7D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214688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47AD29-4CA2-49B2-830A-472BD9B5AA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58A7D85-483E-4577-853B-DCA21AA538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121729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70FFA5-F2F8-469B-9214-09EAE2FD05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D9AD82-AA10-4D2A-9953-9772586030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7EE004-763D-4543-8FBA-D3F69474C3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044F80-40E2-4E32-B683-0FB0DFD28B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8B177D-0198-4E97-9DAC-A0162101D6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324cfd28ef499c" /><Relationship Type="http://schemas.openxmlformats.org/officeDocument/2006/relationships/slideLayout" Target="/ppt/slideLayouts/slideLayout1.xml" Id="R7d53519e38184849" /><Relationship Type="http://schemas.openxmlformats.org/officeDocument/2006/relationships/slideLayout" Target="/ppt/slideLayouts/slideLayout2.xml" Id="R4b489c40fad74702" /><Relationship Type="http://schemas.openxmlformats.org/officeDocument/2006/relationships/slideLayout" Target="/ppt/slideLayouts/slideLayout3.xml" Id="Rb7379584e26940e6" /><Relationship Type="http://schemas.openxmlformats.org/officeDocument/2006/relationships/slideLayout" Target="/ppt/slideLayouts/slideLayout4.xml" Id="R821d652a4b4e463a" /><Relationship Type="http://schemas.openxmlformats.org/officeDocument/2006/relationships/slideLayout" Target="/ppt/slideLayouts/slideLayout5.xml" Id="Rb79fe42a4cb14579" /><Relationship Type="http://schemas.openxmlformats.org/officeDocument/2006/relationships/slideLayout" Target="/ppt/slideLayouts/slideLayout6.xml" Id="R6ba5c81a50934d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53519e38184849"/>
    <p:sldLayoutId xmlns:r="http://schemas.openxmlformats.org/officeDocument/2006/relationships" id="2147483650" r:id="R4b489c40fad74702"/>
    <p:sldLayoutId xmlns:r="http://schemas.openxmlformats.org/officeDocument/2006/relationships" id="2147483651" r:id="Rb7379584e26940e6"/>
    <p:sldLayoutId xmlns:r="http://schemas.openxmlformats.org/officeDocument/2006/relationships" id="2147483652" r:id="R821d652a4b4e463a"/>
    <p:sldLayoutId xmlns:r="http://schemas.openxmlformats.org/officeDocument/2006/relationships" id="2147483653" r:id="Rb79fe42a4cb14579"/>
    <p:sldLayoutId xmlns:r="http://schemas.openxmlformats.org/officeDocument/2006/relationships" id="2147483654" r:id="R6ba5c81a50934d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79b6ce72745e7" /><Relationship Type="http://schemas.openxmlformats.org/officeDocument/2006/relationships/image" Target="/ppt/media/image.png" Id="R7502fe727cde4b34" /><Relationship Type="http://schemas.openxmlformats.org/officeDocument/2006/relationships/image" Target="/ppt/media/image2.png" Id="R3919fe3d48024a1b" /><Relationship Type="http://schemas.openxmlformats.org/officeDocument/2006/relationships/image" Target="/ppt/media/image3.png" Id="R594eeb2b5b434b36" /><Relationship Type="http://schemas.openxmlformats.org/officeDocument/2006/relationships/notesSlide" Target="/ppt/notesSlides/notesSlide1.xml" Id="Raf054e5bd5fa44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a2528097e64506" /><Relationship Type="http://schemas.openxmlformats.org/officeDocument/2006/relationships/notesSlide" Target="/ppt/notesSlides/notesSlide2.xml" Id="R313cac138e0f46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712f502a6c4852" /><Relationship Type="http://schemas.openxmlformats.org/officeDocument/2006/relationships/notesSlide" Target="/ppt/notesSlides/notesSlide3.xml" Id="Ra5c76d0667924b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efbb1e93a4e7c" /><Relationship Type="http://schemas.openxmlformats.org/officeDocument/2006/relationships/notesSlide" Target="/ppt/notesSlides/notesSlide4.xml" Id="Rb915da0803354c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d1c5845d24544" /><Relationship Type="http://schemas.openxmlformats.org/officeDocument/2006/relationships/notesSlide" Target="/ppt/notesSlides/notesSlide5.xml" Id="R18039052c78846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4f80c6c2b1429e" /><Relationship Type="http://schemas.openxmlformats.org/officeDocument/2006/relationships/notesSlide" Target="/ppt/notesSlides/notesSlide6.xml" Id="R94215a9aa99b45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b4c734e374ee6" /><Relationship Type="http://schemas.openxmlformats.org/officeDocument/2006/relationships/notesSlide" Target="/ppt/notesSlides/notesSlide7.xml" Id="Rcccf9b7dc5be44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dbdc3221d40b8" /><Relationship Type="http://schemas.openxmlformats.org/officeDocument/2006/relationships/notesSlide" Target="/ppt/notesSlides/notesSlide8.xml" Id="R66a5cef8b7664d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59eca7f1a7422d" /><Relationship Type="http://schemas.openxmlformats.org/officeDocument/2006/relationships/chart" Target="/ppt/slides/charts/chart1.xml" Id="Rce8896caf6734a72" /><Relationship Type="http://schemas.openxmlformats.org/officeDocument/2006/relationships/notesSlide" Target="/ppt/notesSlides/notesSlide9.xml" Id="R4698da2e73134a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385dc485042fd" /><Relationship Type="http://schemas.openxmlformats.org/officeDocument/2006/relationships/notesSlide" Target="/ppt/notesSlides/notesSlide10.xml" Id="Rb573c609843341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4b63f44ab44df" /><Relationship Type="http://schemas.openxmlformats.org/officeDocument/2006/relationships/notesSlide" Target="/ppt/notesSlides/notesSlide11.xml" Id="Reba02d62de1945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8e8e69c63404c" /><Relationship Type="http://schemas.openxmlformats.org/officeDocument/2006/relationships/notesSlide" Target="/ppt/notesSlides/notesSlide12.xml" Id="Rb6d23604684347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fabb2e9e44c39" /><Relationship Type="http://schemas.openxmlformats.org/officeDocument/2006/relationships/notesSlide" Target="/ppt/notesSlides/notesSlide13.xml" Id="Rbf41c44816084a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8d9311ed9c415a" /><Relationship Type="http://schemas.openxmlformats.org/officeDocument/2006/relationships/notesSlide" Target="/ppt/notesSlides/notesSlide14.xml" Id="R7b241598c7bd48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230eff7144c46" /><Relationship Type="http://schemas.openxmlformats.org/officeDocument/2006/relationships/notesSlide" Target="/ppt/notesSlides/notesSlide15.xml" Id="Re35f1530839c4b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cd9fbcb4204023" /><Relationship Type="http://schemas.openxmlformats.org/officeDocument/2006/relationships/notesSlide" Target="/ppt/notesSlides/notesSlide16.xml" Id="R4cc9b5cff24c486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aa2a727c4d4522" /><Relationship Type="http://schemas.openxmlformats.org/officeDocument/2006/relationships/notesSlide" Target="/ppt/notesSlides/notesSlide17.xml" Id="R4031636041874d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050b8d890411c" /><Relationship Type="http://schemas.openxmlformats.org/officeDocument/2006/relationships/chart" Target="/ppt/slides/charts/chart2.xml" Id="R22fd6aaa83e741ae" /><Relationship Type="http://schemas.openxmlformats.org/officeDocument/2006/relationships/notesSlide" Target="/ppt/notesSlides/notesSlide18.xml" Id="Ra250aa8b6ce6469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6ce03e01b4501" /><Relationship Type="http://schemas.openxmlformats.org/officeDocument/2006/relationships/notesSlide" Target="/ppt/notesSlides/notesSlide19.xml" Id="R31509992ea81459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3a71c03fef46ed" /><Relationship Type="http://schemas.openxmlformats.org/officeDocument/2006/relationships/hyperlink" Target="https://youtu.be/9qp354pQA64" TargetMode="External" Id="R9d83eb5aef144ddd" /><Relationship Type="http://schemas.openxmlformats.org/officeDocument/2006/relationships/notesSlide" Target="/ppt/notesSlides/notesSlide20.xml" Id="R558cad05bd2b4f7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Aptos"/>
                <a:ea typeface="Aptos"/>
                <a:cs typeface="Aptos"/>
              </a:rPr>
              <a:t>Tablas por dominio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Aptos"/>
              <a:ea typeface="Aptos"/>
              <a:cs typeface="Aptos"/>
            </a:defRPr>
          </a:pPr>
        </a:p>
      </c:txPr>
    </c:title>
    <c:plotArea>
      <c:barChart>
        <c:barDir val="bar"/>
        <c:varyColors val="0"/>
        <c:ser>
          <c:idx val="0"/>
          <c:order val="0"/>
          <c:tx>
            <c:v>Tablas</c:v>
          </c:tx>
          <c:spPr>
            <a:solidFill xmlns:a="http://schemas.openxmlformats.org/drawingml/2006/main">
              <a:srgbClr val="008F9C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Identidad</c:v>
                </c:pt>
                <c:pt idx="1">
                  <c:v>Membresías/pagos</c:v>
                </c:pt>
                <c:pt idx="2">
                  <c:v>Catálogo</c:v>
                </c:pt>
                <c:pt idx="3">
                  <c:v>Planificación</c:v>
                </c:pt>
                <c:pt idx="4">
                  <c:v>Datos atleta</c:v>
                </c:pt>
                <c:pt idx="5">
                  <c:v>Analítica</c:v>
                </c:pt>
                <c:pt idx="6">
                  <c:v>Control técnico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8</c:v>
                </c:pt>
                <c:pt idx="1">
                  <c:v>8</c:v>
                </c:pt>
                <c:pt idx="2">
                  <c:v>3</c:v>
                </c:pt>
                <c:pt idx="3">
                  <c:v>6</c:v>
                </c:pt>
                <c:pt idx="4">
                  <c:v>5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Aptos"/>
                <a:ea typeface="Aptos"/>
                <a:cs typeface="Aptos"/>
              </a:rPr>
              <a:t>Caja acumulada (millones CLP)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Aptos"/>
              <a:ea typeface="Aptos"/>
              <a:cs typeface="Aptos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Caja acumulada (millones CLP)</c:v>
          </c:tx>
          <c:spPr>
            <a:ln xmlns:a="http://schemas.openxmlformats.org/drawingml/2006/main" w="38100">
              <a:solidFill>
                <a:srgbClr val="008F9C"/>
              </a:solidFill>
              <a:prstDash val="solid"/>
            </a:ln>
          </c:spPr>
          <c:marker>
            <c:symbol val="none"/>
          </c:marker>
          <c:cat>
            <c:strRef>
              <c:f>'Chart Data'!$A$2:$A$13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'Chart Data'!$B$2:$B$13</c:f>
              <c:numCache>
                <c:formatCode>0.0</c:formatCode>
                <c:ptCount val="12"/>
                <c:pt idx="0">
                  <c:v>3.5265</c:v>
                </c:pt>
                <c:pt idx="1">
                  <c:v>-0.27125</c:v>
                </c:pt>
                <c:pt idx="2">
                  <c:v>4.123</c:v>
                </c:pt>
                <c:pt idx="3">
                  <c:v>7.68</c:v>
                </c:pt>
                <c:pt idx="4">
                  <c:v>7.785</c:v>
                </c:pt>
                <c:pt idx="5">
                  <c:v>7.89</c:v>
                </c:pt>
                <c:pt idx="6">
                  <c:v>7.995</c:v>
                </c:pt>
                <c:pt idx="7">
                  <c:v>8.1</c:v>
                </c:pt>
                <c:pt idx="8">
                  <c:v>8.205</c:v>
                </c:pt>
                <c:pt idx="9">
                  <c:v>8.31</c:v>
                </c:pt>
                <c:pt idx="10">
                  <c:v>8.415</c:v>
                </c:pt>
                <c:pt idx="11">
                  <c:v>8.52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6E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C2183FC-C8F8-43DB-B7F5-708B6F4B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CD19AF8-ED13-442A-B40C-2CA16E04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B7DB9B9-01C7-4EFA-8EE9-F0B8881B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8F9C"/>
                </a:solidFill>
                <a:latin typeface="Aptos"/>
                <a:ea typeface="Aptos"/>
                <a:cs typeface="Aptos"/>
              </a:rPr>
              <a:t>DUOC UC  ·  CAPSTONE 2026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AC86D-0CFA-4CF1-87F7-350025BF08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2fe727cde4b34"/>
          <a:stretch xmlns:a="http://schemas.openxmlformats.org/drawingml/2006/main"/>
        </p:blipFill>
        <p:spPr>
          <a:xfrm xmlns:a="http://schemas.openxmlformats.org/drawingml/2006/main">
            <a:off x="762000" y="1238250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1FC122A-3102-482A-8481-3C016F34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Gestión de gimnasios</a:t>
            </a:r>
          </a:p>
          <a:p xmlns:a="http://schemas.openxmlformats.org/drawingml/2006/main">
            <a:pPr algn="l">
              <a:defRPr sz="33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y seguimiento de carga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16EAC88-5884-42E6-96A1-B404F723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Presentación Fase 2</a:t>
            </a:r>
          </a:p>
          <a:p xmlns:a="http://schemas.openxmlformats.org/drawingml/2006/main">
            <a:pPr algn="l">
              <a:defRPr sz="18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Edición corregida · 29 de octubre de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91433-380C-4C32-9A90-CA7F5D8ECB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9fe3d48024a1b"/>
          <a:stretch xmlns:a="http://schemas.openxmlformats.org/drawingml/2006/main"/>
        </p:blipFill>
        <p:spPr>
          <a:xfrm xmlns:a="http://schemas.openxmlformats.org/drawingml/2006/main">
            <a:off x="6381750" y="1764648"/>
            <a:ext cx="6477000" cy="3214404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8492B-C854-4E36-A36F-1063922E26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eeb2b5b434b36"/>
          <a:stretch xmlns:a="http://schemas.openxmlformats.org/drawingml/2006/main"/>
        </p:blipFill>
        <p:spPr>
          <a:xfrm xmlns:a="http://schemas.openxmlformats.org/drawingml/2006/main">
            <a:off x="11191875" y="3675784"/>
            <a:ext cx="1476375" cy="30783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04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FDF59170-CF46-4398-9B1A-4BFABCFD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El problema operativo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9689BD8-A2DB-466B-9936-0F01B776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5AF9BE2-C173-4817-A478-BAB5179A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D21B20A-5092-499F-A95F-B225E40E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008F9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A5BB7F5-DEA4-4085-B81A-636CC3F1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002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Información dispersa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05E601D-5BF9-4A9F-9BD7-51320689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76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Rutinas, pagos e historial en soportes separados.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CEDEF9D-15DB-46FC-BE00-44EA6902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6217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Un registro compartido por rol.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71A5BA5-19BD-43C0-9194-B4F03E9A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008F9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D1B1BAE-9136-42D0-813C-74ED2D84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290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Cobranza manual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5A17C28-C3FC-4C89-B697-BC35374B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052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Comprobantes y vencimientos revisados a mano.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556653D-B034-4521-9E7C-6218DDDD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9092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Facturación y conciliación trazables.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87BA930-8DE9-49C9-AB70-94DDE028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008F9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84A1A70B-63F7-4C7C-8A04-429A67EB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577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Carga sin seguimiento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8E7B9B27-2454-4BC0-BD32-D798D252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340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Series y esfuerzo sin un historial consistente.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C1C584E-A6D0-4131-9EF2-172CD8B4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1967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Registro de entrenamiento y revisión de alertas.</a:t>
            </a:r>
          </a:p>
        </p:txBody>
      </p:sp>
    </p:spTree>
    <p:extLst>
      <p:ext uri="{BB962C8B-B14F-4D97-AF65-F5344CB8AC3E}">
        <p14:creationId xmlns:p14="http://schemas.microsoft.com/office/powerpoint/2010/main" val="1091386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11F01FC0-CF61-4D8D-B736-2E626563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Alcance de la solución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0B4306-E906-4A3D-8FDA-DE176AC9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162CB1B-14CC-431E-9101-6CA7FAF5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B1AE8DB-E983-4BCF-9CB2-41F229F6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8F9C"/>
                </a:solidFill>
                <a:latin typeface="Aptos"/>
                <a:ea typeface="Aptos"/>
                <a:cs typeface="Aptos"/>
              </a:rPr>
              <a:t>Gestión comercial y deportiva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AFD108-390F-4D00-B475-3AF8F453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7239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62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Usuarios y membresías</a:t>
            </a:r>
          </a:p>
          <a:p xmlns:a="http://schemas.openxmlformats.org/drawingml/2006/main">
            <a: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62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Facturación y conciliación</a:t>
            </a:r>
          </a:p>
          <a:p xmlns:a="http://schemas.openxmlformats.org/drawingml/2006/main">
            <a: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62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Rutinas y registro móvil</a:t>
            </a:r>
          </a:p>
          <a:p xmlns:a="http://schemas.openxmlformats.org/drawingml/2006/main">
            <a: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62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Indicadores de carga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F09081A-CCB8-4992-96B7-18387A07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Fuera de esta fase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89AC9E1-8F71-4D29-B305-526604E8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3905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Torniquetes físicos</a:t>
            </a:r>
          </a:p>
          <a:p xmlns:a="http://schemas.openxmlformats.org/drawingml/2006/main">
            <a: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Wearables</a:t>
            </a:r>
          </a:p>
          <a:p xmlns:a="http://schemas.openxmlformats.org/drawingml/2006/main">
            <a: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Diagnóstico médico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F958229-61EE-4E2C-9608-ABB29E39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228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La aceptación exige pruebas, paquete móvil y validación de usuarios.</a:t>
            </a:r>
          </a:p>
        </p:txBody>
      </p:sp>
    </p:spTree>
    <p:extLst>
      <p:ext uri="{BB962C8B-B14F-4D97-AF65-F5344CB8AC3E}">
        <p14:creationId xmlns:p14="http://schemas.microsoft.com/office/powerpoint/2010/main" val="6743357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6A768559-5EE9-4BC8-9B9E-085BF076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Responsabilidades del equipo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7BD566C-57FA-47B3-8157-B3AA694F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26F6635-5993-4C66-9EA0-EF8490F7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B92B5-F4A2-40D6-948C-6679924E5D4A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23825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6667500"/>
              </a:tblGrid>
              <a:tr h="730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Integrante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Responsabilidad principal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Felipe Romero Díaz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PM y liderazgo técnico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Vicente Gilbert Espinosa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Backend e integraciones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Yulian Silva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Modelo y administración de datos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Antonio Maturana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Frontend y aplicación móvil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Steven San Martín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Planificación y ejecución QA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154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D69CE-BAB8-43B3-96EE-321375F4D31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429625" y="3500438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9C"/>
            </a:solidFill>
            <a:prstDash val="solid"/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16CFC-05C6-4F86-ADA2-0CDD44B6BBE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857625" y="3500438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9C"/>
            </a:solidFill>
            <a:prstDash val="solid"/>
            <a:tailEnd type="triangle" w="med" len="med"/>
          </a:ln>
        </p:spPr>
      </p:cxnSp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3808ED39-9939-40CF-94D8-2958EB9A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Recorrido del atleta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A18A4B6-1C46-4072-AA21-4DFAA4D4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136A43B-DA08-4CE1-8594-6D4CC19E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4C4C6-914B-46E2-98C8-32A44CA3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3143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Entrenador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asigna rutina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A1EEF-74F7-4538-AC07-E622D8BE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57500"/>
            <a:ext cx="3143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Atleta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registra series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9C1C8-61D3-4B95-A943-AEBC94AE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57500"/>
            <a:ext cx="3143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Entrenador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revisa evolución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482A1D4-8409-470B-A506-5D55ECF2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Plantilla y mesociclo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B5A5947-9504-4550-A625-E97E971E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720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Peso, repeticiones y RPE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B19C780-88E6-489B-B1B1-CBB66B87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Historial y alertas de carga</a:t>
            </a:r>
          </a:p>
        </p:txBody>
      </p:sp>
    </p:spTree>
    <p:extLst>
      <p:ext uri="{BB962C8B-B14F-4D97-AF65-F5344CB8AC3E}">
        <p14:creationId xmlns:p14="http://schemas.microsoft.com/office/powerpoint/2010/main" val="1577010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09FF2-3561-44C7-82C5-9637DA96AB1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47750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9C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EE066-B021-4903-AEB0-D561758B50A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90575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9C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C8368-99D0-4A00-84CE-E823FF21C20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33400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9C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1CC76-2172-4BE6-8522-8571C3F3512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6225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9C"/>
            </a:solidFill>
            <a:prstDash val="solid"/>
            <a:tailEnd type="triangle" w="med" len="med"/>
          </a:ln>
        </p:spPr>
      </p:cxnSp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321FE946-33E7-410A-BD1A-4CAD9ADE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Cobro y activación de membresía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56D335-5B2E-438A-AB06-A2CB3D06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8AEAEDD-3437-460D-B350-61CCB3B3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46E31-CE0E-4694-8860-6A9DF5EC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Emitir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factura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B8E0F-9852-4899-BD6D-6C351FB3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3362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Pagar en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pasarela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0BF83-BA10-4BBF-A261-D6D24CBD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Validar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evento y pago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6F385-F610-4196-9918-10E06E23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Conciliar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una sola vez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3F3A4-D880-4E3C-8A4C-81D4C6A5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3362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Activar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membresía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73AACC1-87B7-466E-B0BD-40F54475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A85D09"/>
                </a:solidFill>
                <a:latin typeface="Aptos"/>
                <a:ea typeface="Aptos"/>
                <a:cs typeface="Aptos"/>
              </a:rPr>
              <a:t>Control crítico pendiente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10409B5-8C3E-419E-8E59-C682AE34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190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Rechazar firmas ausentes o inválidas y probar reintentos concurrentes.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5BA14F0-5F2C-4FAD-89F3-072F1F2F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228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La existencia del webhook no acredita por sí sola autenticidad ni idempotencia.</a:t>
            </a:r>
          </a:p>
        </p:txBody>
      </p:sp>
    </p:spTree>
    <p:extLst>
      <p:ext uri="{BB962C8B-B14F-4D97-AF65-F5344CB8AC3E}">
        <p14:creationId xmlns:p14="http://schemas.microsoft.com/office/powerpoint/2010/main" val="726937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CBBAEDF9-C7E4-409D-89FC-FD6FB398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ACWR: cálculo implementado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C8FE6DF-1AC9-4A65-929F-154BF71F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BA526F8-F17C-4A9B-83E6-080BF458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84FF45C-3AAD-4900-A007-63BAAEAC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22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22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22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22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22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22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22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22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22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Volumen de 7 días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77CA7-099E-4967-ADAB-867BBB05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657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781C719-0993-4B05-B152-52BD0D87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62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Volumen de 28 días ÷ semanas de historial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1D059B0-DCC0-4463-845C-6FD7A488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7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ctr">
              <a:defRPr sz="7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ctr">
              <a:defRPr sz="7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ctr">
              <a:defRPr sz="7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ctr">
              <a:defRPr sz="7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ctr">
              <a:defRPr sz="7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ctr">
              <a:defRPr sz="7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ctr">
              <a:defRPr sz="7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ctr">
              <a:defRPr sz="7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ctr">
              <a:defRPr sz="7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 sz="7500" b="1">
                <a:solidFill>
                  <a:srgbClr val="008F9C"/>
                </a:solidFill>
                <a:latin typeface="Aptos"/>
                <a:ea typeface="Aptos"/>
                <a:cs typeface="Aptos"/>
              </a:rPr>
              <a:t>1,0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A30DDC7-1F7D-4D37-BDB3-10990F7E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4812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ctr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ctr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ctr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ctr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ctr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ctr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ctr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ctr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ctr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7.000 ÷ (28.000 ÷ 4)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8DA1282-3984-43DB-AEEC-1CA1C6FB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228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Carga = suma de peso × repeticiones, sin calentamiento. Ejemplo ilustrativo con 28 días.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F66472B-055D-405D-889B-D455D414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228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El RPE participa por separado en el puntaje de fatiga. El indicador apoya al entrenador.</a:t>
            </a:r>
          </a:p>
        </p:txBody>
      </p:sp>
    </p:spTree>
    <p:extLst>
      <p:ext uri="{BB962C8B-B14F-4D97-AF65-F5344CB8AC3E}">
        <p14:creationId xmlns:p14="http://schemas.microsoft.com/office/powerpoint/2010/main" val="10324210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C674F91-774F-4D8E-8687-572CB190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Doce casos de uso priorizados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4683F2-FF2F-4522-A0D9-53C3F67A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582D1CB-BF3D-4BF0-B379-7764A740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144BB-06C8-41CE-8C0F-B78B277D417E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23825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8953500"/>
              </a:tblGrid>
              <a:tr h="7302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Actor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Casos de uso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Todos los usuarios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001 Autenticación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Administrador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002 Sucursales y personal · 003 Planes · 005 Reportes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Entrenador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006 Catálogo · 007 Plantillas · 008 Asignación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Atleta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009 Rutina y evolución · 010 Series · 011 Pago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Automatizaciones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004 Morosidad · 012 ACWR y alertas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34622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869B98D4-0C11-4172-AFD1-8346E222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Un modelo físico de 33 tablas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2D9BD9E-C1EE-43E6-94DF-E6F70701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98ECCE4-7D18-4D86-B85B-C437819D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2BE4820-77E1-410E-9427-DF09F161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l">
              <a:defRPr sz="60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l">
              <a:defRPr sz="60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l">
              <a:defRPr sz="60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l">
              <a:defRPr sz="60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l">
              <a:defRPr sz="60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l">
              <a:defRPr sz="60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l">
              <a:defRPr sz="60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l">
              <a:defRPr sz="60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l">
              <a:defRPr sz="60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60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 sz="6000" b="1">
                <a:solidFill>
                  <a:srgbClr val="008F9C"/>
                </a:solidFill>
                <a:latin typeface="Aptos"/>
                <a:ea typeface="Aptos"/>
                <a:cs typeface="Aptos"/>
              </a:rPr>
              <a:t>32 + 1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33DA3CB-F618-45CD-93EA-C93FF43F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Funcionales + control técnico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D0633B5-7BD3-4FA9-90CD-2FAE9CBB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346 campos</a:t>
            </a:r>
          </a:p>
          <a:p xmlns:a="http://schemas.openxmlformats.org/drawingml/2006/main">
            <a:pPr algn="l">
              <a:defRPr sz="225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51 claves foráneas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36D8937F-359F-4C46-A318-66BD638E1491}"/>
              </a:ext>
            </a:extLst>
          </p:cNvPr>
          <p:cNvGraphicFramePr/>
          <p:nvPr/>
        </p:nvGraphicFramePr>
        <p:xfrm>
          <a:off xmlns:a="http://schemas.openxmlformats.org/drawingml/2006/main" x="5238750" y="1857375"/>
          <a:ext xmlns:a="http://schemas.openxmlformats.org/drawingml/2006/main" cx="77152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8896caf6734a72"/>
          </a:graphicData>
        </a:graphic>
      </p:graphicFrame>
    </p:spTree>
    <p:extLst>
      <p:ext uri="{BB962C8B-B14F-4D97-AF65-F5344CB8AC3E}">
        <p14:creationId xmlns:p14="http://schemas.microsoft.com/office/powerpoint/2010/main" val="9178971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17D2C-9CD3-46C6-A9E1-AB08F038926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763125" y="2952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9C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CF25E-5674-4823-A163-63E1982C9D8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477000" y="2952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9C"/>
            </a:solidFill>
            <a:prstDash val="soli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1BE07-C627-476D-A753-C5B88F2F84A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90875" y="2952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9C"/>
            </a:solidFill>
            <a:prstDash val="solid"/>
            <a:tailEnd type="triangle" w="med" len="med"/>
          </a:ln>
        </p:spPr>
      </p:cxnSp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64AF05DE-2380-48ED-A02A-162A8A63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Relaciones del ciclo de cobro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866AF5B-EAFD-481F-AFBD-240684BC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C4C01D-0A2C-4EF5-947B-4DD41A61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9D662-3126-4F64-8A00-D8B90209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524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users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id (UUID)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74A85-9498-4069-B204-3F523D50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81250"/>
            <a:ext cx="2524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memberships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user_id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90724-CB1B-4A33-8EBA-3CE9CCF9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2524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invoices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membership_id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E2A7F-B55D-4999-BD94-7204ACF3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81250"/>
            <a:ext cx="2524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transactions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invoice_id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B714F-27C1-48DA-ABFA-D4E363615AA7}"/>
              </a:ext>
            </a:extLst>
          </p:cNvPr>
          <p:cNvGraphicFramePr/>
          <p:nvPr/>
        </p:nvGraphicFramePr>
        <p:xfrm>
          <a:off xmlns:a="http://schemas.openxmlformats.org/drawingml/2006/main" x="666750" y="4476750"/>
          <a:ext xmlns:a="http://schemas.openxmlformats.org/drawingml/2006/main" cx="123825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6191250"/>
              </a:tblGrid>
              <a:tr h="539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Factura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Transacción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subtotal, tax, discount, total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gateway_reference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payment_link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Datos de pasarela en mercadopago_transactions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0135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DAAAFAD-7145-41DC-8975-4E9C34C4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Arquitectura y tecnologías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BACFE3F-542A-45CB-A4A1-6407E9FD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D521528-7C8F-4A5B-AE98-2E148421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8F185-8E3B-4BA9-B0E7-A445D87CC8E7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23825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381750"/>
                <a:gridCol w="3619500"/>
              </a:tblGrid>
              <a:tr h="8763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Capa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Implementación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Despliegue documentado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Presentación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Web: React 19.2.8 + Vite + Recharts</a:t>
                      </a:r>
                    </a:p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Móvil: React Native 0.81.5 + Expo 54.0.37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Vercel / Android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Servicios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Python 3.11 + FastAPI</a:t>
                      </a:r>
                    </a:p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JWT, RBAC y módulos de negocio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Render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Persistencia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PostgreSQL + SQLAlchemy + Alembic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Supabase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Integraciones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Mercado Pago, Zoho Mail, Expo Push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QStash para tareas programadas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87AD7B6-E8F4-44B9-AE18-D918F84F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228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Versión efectiva de PostgreSQL y reproducibilidad de dependencias Python: por verificar.</a:t>
            </a:r>
          </a:p>
        </p:txBody>
      </p:sp>
    </p:spTree>
    <p:extLst>
      <p:ext uri="{BB962C8B-B14F-4D97-AF65-F5344CB8AC3E}">
        <p14:creationId xmlns:p14="http://schemas.microsoft.com/office/powerpoint/2010/main" val="210509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E6A0DA6E-2EAD-4FD5-ABCF-1020DD89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Objetivos de calidad y validación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3C25DE3-D175-4091-9BE2-6D381921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EB53EF-ADFC-4727-A0BA-3D7E7D5B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4691C62-57B3-4642-BB83-010FDEF8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008F9C"/>
                </a:solidFill>
                <a:latin typeface="Aptos"/>
                <a:ea typeface="Aptos"/>
                <a:cs typeface="Aptos"/>
              </a:rPr>
              <a:t>≤250 ms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C575388-C230-437A-A7C2-75DD54FA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API crítica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AE372CC-9654-4412-A144-45D29027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383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008F9C"/>
                </a:solidFill>
                <a:latin typeface="Aptos"/>
                <a:ea typeface="Aptos"/>
                <a:cs typeface="Aptos"/>
              </a:rPr>
              <a:t>&lt;500 ms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35E28CC-F8D3-46B7-A4CC-759FBCAF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6712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Cálculo ACWR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AB7A350-82A5-41A7-9FC2-7E0EF1B1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008F9C"/>
                </a:solidFill>
                <a:latin typeface="Aptos"/>
                <a:ea typeface="Aptos"/>
                <a:cs typeface="Aptos"/>
              </a:rPr>
              <a:t>&gt;99,5%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56CC0E0-2C8C-424E-A027-C02E3A53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6712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Disponibilidad mensual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FAEEF69-FEB0-48EF-8C34-5D3D19DF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143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A85D09"/>
                </a:solidFill>
                <a:latin typeface="Aptos"/>
                <a:ea typeface="Aptos"/>
                <a:cs typeface="Aptos"/>
              </a:rPr>
              <a:t>Verificación pendiente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3A691A1-21F2-4B6B-BF2E-5F81CBE7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228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Seguridad por rol y sucursal, rendimiento, entrega de avisos y recuperación.</a:t>
            </a:r>
          </a:p>
        </p:txBody>
      </p:sp>
    </p:spTree>
    <p:extLst>
      <p:ext uri="{BB962C8B-B14F-4D97-AF65-F5344CB8AC3E}">
        <p14:creationId xmlns:p14="http://schemas.microsoft.com/office/powerpoint/2010/main" val="859882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D184931-5AB9-4734-90A9-A6D86D77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Hitos y fases académicas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40047C-5DE6-4F8A-A364-F340DB64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17BF7AF-B06B-4376-A7B2-5E3A692B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1B8FE-B9C4-4130-8DC0-3DA508903BFC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23825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429250"/>
                <a:gridCol w="4000500"/>
              </a:tblGrid>
              <a:tr h="10953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Fechas documentadas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Estado de referencia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1. Planificación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Agosto a 06 septiembre 2026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SC-01 a SC-04 registrados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2. Construcción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07 septiembre a 11 octubre</a:t>
                      </a:r>
                    </a:p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Cierre reportado: 12 octubre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Código y documentación disponibles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3. Validación e implantación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15 noviembre: entrega</a:t>
                      </a:r>
                    </a:p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29 noviembre: QA/UAT</a:t>
                      </a:r>
                    </a:p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14 diciembre: cierre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Hitos del Acta por reconciliar con Gantt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12C0460-040C-4924-851F-62FBE54A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228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Edición documental del 29-10-2026. Las correcciones no retrofechan aprobaciones.</a:t>
            </a:r>
          </a:p>
        </p:txBody>
      </p:sp>
    </p:spTree>
    <p:extLst>
      <p:ext uri="{BB962C8B-B14F-4D97-AF65-F5344CB8AC3E}">
        <p14:creationId xmlns:p14="http://schemas.microsoft.com/office/powerpoint/2010/main" val="977113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E3EB0DDC-3C17-49D6-8FFA-D6F49434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Evidencia disponible y cierre pendiente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BA9694-59F1-47CA-AF62-EA9258B8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A59C6B3-B5F0-4D9C-B818-ACA9F658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37CB914-4B8E-499C-9F1C-4827956C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8F9C"/>
                </a:solidFill>
                <a:latin typeface="Aptos"/>
                <a:ea typeface="Aptos"/>
                <a:cs typeface="Aptos"/>
              </a:rPr>
              <a:t>Disponible en el repositorio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96F98FB-5A7B-47E5-A9B3-838A00C9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47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Código fuente y esquema</a:t>
            </a:r>
          </a:p>
          <a:p xmlns:a="http://schemas.openxmlformats.org/drawingml/2006/main">
            <a: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47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Documentación y matrices</a:t>
            </a:r>
          </a:p>
          <a:p xmlns:a="http://schemas.openxmlformats.org/drawingml/2006/main">
            <a: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47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Referencias de despliegue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5727B64-C0C1-462C-BB68-4A7DEA41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5262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A85D09"/>
                </a:solidFill>
                <a:latin typeface="Aptos"/>
                <a:ea typeface="Aptos"/>
                <a:cs typeface="Aptos"/>
              </a:rPr>
              <a:t>Pendiente de respaldo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A6A3A4F-DC1E-4F46-BF98-DD48A374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09875"/>
            <a:ext cx="552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47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Resultados QA y aceptación</a:t>
            </a:r>
          </a:p>
          <a:p xmlns:a="http://schemas.openxmlformats.org/drawingml/2006/main">
            <a: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47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APK con versión y checksum</a:t>
            </a:r>
          </a:p>
          <a:p xmlns:a="http://schemas.openxmlformats.org/drawingml/2006/main">
            <a:pPr algn="l">
              <a:defRPr sz="24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47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Restauración y rendimiento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9CB29EF-BBE5-4E23-8955-BB7F818A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228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12 riesgos registrados. 4 cambios históricos con datos y 2 regularizaciones propuestas.</a:t>
            </a:r>
          </a:p>
        </p:txBody>
      </p:sp>
    </p:spTree>
    <p:extLst>
      <p:ext uri="{BB962C8B-B14F-4D97-AF65-F5344CB8AC3E}">
        <p14:creationId xmlns:p14="http://schemas.microsoft.com/office/powerpoint/2010/main" val="10460714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538AAD2-1EE3-40EC-9BEA-B1BA9AF4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Costo de construcción y periodicidad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D354D47-00FC-46F9-9D0D-9557669C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CF0EE7B-4D5E-4D0A-9703-0F6C7033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D23AB-ACAB-495A-930C-CCC84464E283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23825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4286250"/>
                <a:gridCol w="3810000"/>
              </a:tblGrid>
              <a:tr h="8763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Concepto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Construcción (4 meses)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Desarrollo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Costo por etapas 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$12.500.000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Hosting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$45.000 / mes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$180.000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Cuentas de desarrollador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$120.000 / año, condicional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$120.000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Total de referencia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CLP, antes de impuestos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$12.800.000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6A159B5-6376-4712-905C-060C1C90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228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Hosting equivalente a 12 meses: $540.000. Cuatro meses de construcción: supuesto financiero.</a:t>
            </a:r>
          </a:p>
        </p:txBody>
      </p:sp>
    </p:spTree>
    <p:extLst>
      <p:ext uri="{BB962C8B-B14F-4D97-AF65-F5344CB8AC3E}">
        <p14:creationId xmlns:p14="http://schemas.microsoft.com/office/powerpoint/2010/main" val="20233675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8AF7A1C0-CCD0-41EA-8497-8B73B63B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Un servicio mensual de soporte y mantenimiento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A1BB233-191B-4F4F-9B91-8F9742A5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FFB0682-5232-40E7-B1C6-66FF2716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0FE3867-4919-46F5-A575-563FBCC0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l">
              <a:defRPr sz="525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l">
              <a:defRPr sz="525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l">
              <a:defRPr sz="525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l">
              <a:defRPr sz="525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l">
              <a:defRPr sz="525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l">
              <a:defRPr sz="525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l">
              <a:defRPr sz="525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l">
              <a:defRPr sz="525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l">
              <a:defRPr sz="525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008F9C"/>
                </a:solidFill>
                <a:latin typeface="Aptos"/>
                <a:ea typeface="Aptos"/>
                <a:cs typeface="Aptos"/>
              </a:rPr>
              <a:t>$250.000 / mes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83D34EA-4DD8-4532-BD99-8177F88A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85D09"/>
                </a:solidFill>
                <a:latin typeface="Aptos"/>
                <a:ea typeface="Aptos"/>
                <a:cs typeface="Aptos"/>
              </a:rPr>
              <a:t>Propuesta ilustrativa desde M5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C8CD002-D7E1-476D-9EDC-F16DCE43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Incluye hasta 4 horas</a:t>
            </a:r>
          </a:p>
          <a:p xmlns:a="http://schemas.openxmlformats.org/drawingml/2006/main">
            <a: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Atención remota y correcciones</a:t>
            </a:r>
          </a:p>
          <a:p xmlns:a="http://schemas.openxmlformats.org/drawingml/2006/main">
            <a:pPr algn="l">
              <a:defRPr sz="232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Revisión preventiva y hosting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7457909-264B-4AA7-A3F6-7CA31378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Fuera del servicio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B8E1127-F14F-4F2D-B3AB-0571F759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81375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Nuevas funciones</a:t>
            </a:r>
          </a:p>
          <a:p xmlns:a="http://schemas.openxmlformats.org/drawingml/2006/main">
            <a: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Atención 24/7</a:t>
            </a:r>
          </a:p>
          <a:p xmlns:a="http://schemas.openxmlformats.org/drawingml/2006/main">
            <a: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Visitas presenciales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8AC2CC2-6F63-4605-A1D6-8E70C298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228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La capacidad, tarifa y condiciones de atención requieren acuerdo comercial.</a:t>
            </a:r>
          </a:p>
        </p:txBody>
      </p:sp>
    </p:spTree>
    <p:extLst>
      <p:ext uri="{BB962C8B-B14F-4D97-AF65-F5344CB8AC3E}">
        <p14:creationId xmlns:p14="http://schemas.microsoft.com/office/powerpoint/2010/main" val="2013677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C6E91-B640-49DA-8941-D064C327F4E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477250" y="30480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9C"/>
            </a:solidFill>
            <a:prstDash val="solid"/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90FD4-19AD-4B2E-BAD3-8348D7B98EE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30480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9C"/>
            </a:solidFill>
            <a:prstDash val="solid"/>
            <a:tailEnd type="triangle" w="med" len="med"/>
          </a:ln>
        </p:spPr>
      </p:cxnSp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3E314846-2ECC-4F88-899B-9B66CE04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Flujo de caja: entradas, operación y salidas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554C2A3-9AE9-4FA2-9EB3-B919C701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B41976-FB26-4C17-8707-8FE4A9F3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55B31-9A82-45A7-BA77-A86B59CA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Entradas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$22.480.000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B3B66-4388-4B96-A3FA-F9685EBE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33625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NovaFit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Desarrollo y operación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FBC50-B596-4610-9DEE-EC588804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33625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14288">
            <a:solidFill>
              <a:srgbClr val="008F9C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Salidas</a:t>
            </a:r>
          </a:p>
          <a:p xmlns:a="http://schemas.openxmlformats.org/drawingml/2006/main">
            <a:pPr algn="ctr">
              <a:defRPr sz="1875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$13.960.000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566789A-12CD-48F3-AF86-98995ABB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Contrato: $20.480.000</a:t>
            </a:r>
          </a:p>
          <a:p xmlns:a="http://schemas.openxmlformats.org/drawingml/2006/main">
            <a: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Soporte: $2.000.000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5AB86ED-F15B-4362-B1C3-C5D87F57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910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Modelo de 12 meses</a:t>
            </a:r>
          </a:p>
          <a:p xmlns:a="http://schemas.openxmlformats.org/drawingml/2006/main">
            <a: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Escenario ilustrativo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A1F1FE8-F331-4436-AF60-E0C3CE81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91000"/>
            <a:ext cx="323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Equipo, hosting, cuentas</a:t>
            </a:r>
          </a:p>
          <a:p xmlns:a="http://schemas.openxmlformats.org/drawingml/2006/main">
            <a:pPr algn="l">
              <a:defRPr sz="20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y ejecución del soporte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6C01F12-5D05-47A9-BDA3-D74562F5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238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l">
              <a:defRPr sz="247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l">
              <a:defRPr sz="247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l">
              <a:defRPr sz="247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l">
              <a:defRPr sz="247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l">
              <a:defRPr sz="247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l">
              <a:defRPr sz="247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l">
              <a:defRPr sz="247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l">
              <a:defRPr sz="247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l">
              <a:defRPr sz="247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08F9C"/>
                </a:solidFill>
                <a:latin typeface="Aptos"/>
                <a:ea typeface="Aptos"/>
                <a:cs typeface="Aptos"/>
              </a:rPr>
              <a:t>Flujo neto antes de impuestos y financiación: $8.520.000 CLP</a:t>
            </a:r>
          </a:p>
        </p:txBody>
      </p:sp>
    </p:spTree>
    <p:extLst>
      <p:ext uri="{BB962C8B-B14F-4D97-AF65-F5344CB8AC3E}">
        <p14:creationId xmlns:p14="http://schemas.microsoft.com/office/powerpoint/2010/main" val="18860649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CF294DD-02BF-4ED3-81AE-9871E0DC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El calendario exige financiar el segundo mes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842AE29-9037-4C5B-820F-EBFBE293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353254C-2AB1-4AF9-9838-1139D624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DB34856-6D84-4884-92D1-2C94354622DF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90487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fd6aaa83e741ae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819EB02-71F9-4F68-99C2-8A4A97BB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defPPr>
            <a:lvl1pPr algn="l">
              <a:defRPr sz="390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1pPr>
            <a:lvl2pPr algn="l">
              <a:defRPr sz="390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2pPr>
            <a:lvl3pPr algn="l">
              <a:defRPr sz="390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3pPr>
            <a:lvl4pPr algn="l">
              <a:defRPr sz="390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4pPr>
            <a:lvl5pPr algn="l">
              <a:defRPr sz="390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5pPr>
            <a:lvl6pPr algn="l">
              <a:defRPr sz="390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6pPr>
            <a:lvl7pPr algn="l">
              <a:defRPr sz="390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7pPr>
            <a:lvl8pPr algn="l">
              <a:defRPr sz="390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8pPr>
            <a:lvl9pPr algn="l">
              <a:defRPr sz="390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A85D09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A85D09"/>
                </a:solidFill>
                <a:latin typeface="Aptos"/>
                <a:ea typeface="Aptos"/>
                <a:cs typeface="Aptos"/>
              </a:rPr>
              <a:t>$271.250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96D42B2-4CFE-454E-9CA9-D2320A0C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Financiación mínima</a:t>
            </a:r>
          </a:p>
          <a:p xmlns:a="http://schemas.openxmlformats.org/drawingml/2006/main">
            <a:pPr algn="l">
              <a:defRPr sz="2175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en M2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685BA2A-C5D8-47DA-BD3B-90D93CA8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228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Cobros supuestos: 30% M1, 40% M3 y 30% M4. Sin caja inicial ni financiación incorporada.</a:t>
            </a:r>
          </a:p>
        </p:txBody>
      </p:sp>
    </p:spTree>
    <p:extLst>
      <p:ext uri="{BB962C8B-B14F-4D97-AF65-F5344CB8AC3E}">
        <p14:creationId xmlns:p14="http://schemas.microsoft.com/office/powerpoint/2010/main" val="5987043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862544B-4B63-4E65-BABE-2BC87A57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Beneficios esperados y cómo medirlos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6BC795-14FB-4F10-958A-9CDA6397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A24D57C-B0B6-4DF8-A2B7-E92797CD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CFD3B-EE3D-49DE-90DF-139556687282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23825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3333750"/>
                <a:gridCol w="4524375"/>
              </a:tblGrid>
              <a:tr h="8763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Beneficio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Meta del Acta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Medición propuesta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T w="9525">
                      <a:solidFill>
                        <a:srgbClr val="D6E4E8"/>
                      </a:solidFill>
                      <a:prstDash val="solid"/>
                    </a:lnT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Menos trabajo administrativo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−60% de tiempo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Minutos por operación antes/después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Cobranza más oportuna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90% de pagos a tiempo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Pagos a tiempo / pagos exigibles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Mayor retención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−25% de abandono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Comparación de cohortes a 3 meses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Seguimiento de entrenamiento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4E8"/>
                      </a:solidFill>
                      <a:prstDash val="solid"/>
                    </a:lnL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Historial y revisión de alertas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B43"/>
                          </a:solidFill>
                          <a:latin typeface="Aptos"/>
                          <a:ea typeface="Aptos"/>
                          <a:cs typeface="Aptos"/>
                        </a:rPr>
                        <a:t>Sesiones registradas y alertas revisadas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4E8"/>
                      </a:solidFill>
                      <a:prstDash val="solid"/>
                    </a:lnR>
                    <a:lnB w="9525">
                      <a:solidFill>
                        <a:srgbClr val="D6E4E8"/>
                      </a:solidFill>
                      <a:prstDash val="solid"/>
                    </a:lnB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6B24DFD-E1DE-410C-9692-1E8C5479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228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Metas por validar en piloto. Sin beneficios monetizados ni eficacia clínica acreditada.</a:t>
            </a:r>
          </a:p>
        </p:txBody>
      </p:sp>
    </p:spTree>
    <p:extLst>
      <p:ext uri="{BB962C8B-B14F-4D97-AF65-F5344CB8AC3E}">
        <p14:creationId xmlns:p14="http://schemas.microsoft.com/office/powerpoint/2010/main" val="11214336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C23B97E0-EDC3-4972-B790-08B5B250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228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Demostración y próximos pasos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C3E0468-02EA-41C7-B060-06B2D969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19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NovaFit Analytics Suite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082F5E5-2F5A-4E54-87FB-93776F36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21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F0AAC5D-11B6-40DE-80B4-8E5D2461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8F9C"/>
                </a:solidFill>
                <a:latin typeface="Aptos"/>
                <a:ea typeface="Aptos"/>
                <a:cs typeface="Aptos"/>
              </a:rPr>
              <a:t>Demostración de 3 minutos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36E6CBA-3E05-4422-9005-AF5FA329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6858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Acceso y permisos</a:t>
            </a:r>
          </a:p>
          <a:p xmlns:a="http://schemas.openxmlformats.org/drawingml/2006/main">
            <a: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Cobro de prueba</a:t>
            </a:r>
          </a:p>
          <a:p xmlns:a="http://schemas.openxmlformats.org/drawingml/2006/main">
            <a: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Rutina y registro de series</a:t>
            </a:r>
          </a:p>
          <a:p xmlns:a="http://schemas.openxmlformats.org/drawingml/2006/main">
            <a:pPr algn="l">
              <a:defRPr sz="2550" b="0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42B43"/>
                </a:solidFill>
                <a:latin typeface="Aptos"/>
                <a:ea typeface="Aptos"/>
                <a:cs typeface="Aptos"/>
              </a:rPr>
              <a:t>Indicador de carga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EC5D0DB-D804-4E6B-B53C-BE6F8D44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B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B43"/>
                </a:solidFill>
                <a:latin typeface="Aptos"/>
                <a:ea typeface="Aptos"/>
                <a:cs typeface="Aptos"/>
              </a:rPr>
              <a:t>Antes de la entrega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FD4B6C5-660D-4E85-8A42-528BCE72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4095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Adjuntar resultados QA</a:t>
            </a:r>
          </a:p>
          <a:p xmlns:a="http://schemas.openxmlformats.org/drawingml/2006/main">
            <a: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Identificar APK y versión</a:t>
            </a:r>
          </a:p>
          <a:p xmlns:a="http://schemas.openxmlformats.org/drawingml/2006/main">
            <a: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Validar oferta y soporte</a:t>
            </a:r>
          </a:p>
          <a:p xmlns:a="http://schemas.openxmlformats.org/drawingml/2006/main">
            <a:pPr algn="l">
              <a:defRPr sz="210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Cerrar aceptación UAT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F605353-1507-41D5-B6EF-2FAE4B4C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152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8F9C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008F9C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008F9C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008F9C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008F9C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008F9C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008F9C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008F9C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008F9C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008F9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8F9C"/>
                </a:solidFill>
                <a:latin typeface="Aptos"/>
                <a:ea typeface="Aptos"/>
                <a:cs typeface="Aptos"/>
              </a:defRPr>
            </a:pPr>
            <a:r>
              <a:rPr>
                <a:hlinkClick xmlns:r="http://schemas.openxmlformats.org/officeDocument/2006/relationships" r:id="R9d83eb5aef144ddd"/>
              </a:rPr>
              <a:t>Video de respaldo: youtu.be/9qp354pQA64</a:t>
            </a:r>
          </a:p>
        </p:txBody>
      </p:sp>
    </p:spTree>
    <p:extLst>
      <p:ext uri="{BB962C8B-B14F-4D97-AF65-F5344CB8AC3E}">
        <p14:creationId xmlns:p14="http://schemas.microsoft.com/office/powerpoint/2010/main" val="1649253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2026-10-29T19:00:24.7970000Z</dcterms:created>
  <dcterms:modified xsi:type="dcterms:W3CDTF">2026-10-29T19:00:24.7970000Z</dcterms:modified>
</coreProperties>
</file>